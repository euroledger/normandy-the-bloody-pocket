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>
      <p:cViewPr varScale="1">
        <p:scale>
          <a:sx n="62" d="100"/>
          <a:sy n="62" d="100"/>
        </p:scale>
        <p:origin x="2012" y="5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08059" y="1182770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lnSpc>
                <a:spcPct val="100000"/>
              </a:lnSpc>
              <a:spcBef>
                <a:spcPts val="229"/>
              </a:spcBef>
              <a:buAutoNum type="arabicPeriod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Launch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b="1" dirty="0">
                <a:latin typeface="Arial MT"/>
                <a:cs typeface="Arial MT"/>
              </a:rPr>
              <a:t>Offensive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10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386097" y="2059596"/>
            <a:ext cx="3328931" cy="244073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Make Transport Check (Success is &lt; Transport Level)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place in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endParaRPr sz="900" i="1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place in </a:t>
            </a:r>
            <a:r>
              <a:rPr lang="en-US" sz="900" i="1" dirty="0">
                <a:latin typeface="Arial MT"/>
                <a:cs typeface="Arial MT"/>
              </a:rPr>
              <a:t>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</a:t>
            </a:r>
            <a:r>
              <a:rPr lang="en-US" sz="900" i="1" dirty="0">
                <a:latin typeface="Arial MT"/>
                <a:cs typeface="Arial MT"/>
              </a:rPr>
              <a:t>in In Transit Box </a:t>
            </a:r>
            <a:r>
              <a:rPr lang="en-US" sz="900" dirty="0">
                <a:latin typeface="Arial MT"/>
                <a:cs typeface="Arial MT"/>
              </a:rPr>
              <a:t>make 1 Transport Check per turn (free); successful roll: move to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deploy from Strategic Reserve Box to map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) </a:t>
            </a:r>
            <a:r>
              <a:rPr lang="en-US" sz="900" dirty="0">
                <a:latin typeface="Arial MT"/>
                <a:cs typeface="Arial MT"/>
              </a:rPr>
              <a:t>must pass Hitler Check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Kampfgruppen/Nebel/Flak move directly to map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US" sz="900" dirty="0">
                <a:latin typeface="Arial MT"/>
                <a:cs typeface="Arial MT"/>
              </a:rPr>
              <a:t>or to Strategic Reserve Box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Deploy Kampfgruppen/Nebel/Flak from the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r>
              <a:rPr lang="en-US" sz="900" dirty="0">
                <a:latin typeface="Arial MT"/>
                <a:cs typeface="Arial MT"/>
              </a:rPr>
              <a:t> to map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240665" marR="5080" lvl="1">
              <a:lnSpc>
                <a:spcPct val="120000"/>
              </a:lnSpc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	</a:t>
            </a:r>
            <a:r>
              <a:rPr lang="en-US" sz="900" dirty="0">
                <a:latin typeface="Arial MT"/>
                <a:cs typeface="Arial MT"/>
              </a:rPr>
              <a:t> </a:t>
            </a: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22744" y="4005750"/>
            <a:ext cx="3290953" cy="1687898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Panzer Unit to Strategic Reserve Box/Other Units Move 1 space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Transport Check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May not redeploy out of Siege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Units in Strategic Reserve can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	- </a:t>
            </a:r>
            <a:r>
              <a:rPr lang="en-US" sz="900" dirty="0">
                <a:latin typeface="Arial MT"/>
                <a:cs typeface="Arial MT"/>
              </a:rPr>
              <a:t>Remain</a:t>
            </a:r>
            <a:endParaRPr lang="en-GB" sz="900" spc="165" dirty="0">
              <a:latin typeface="Arial MT"/>
              <a:cs typeface="Arial MT"/>
            </a:endParaRP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  	- </a:t>
            </a:r>
            <a:r>
              <a:rPr lang="en-US" sz="900" dirty="0">
                <a:latin typeface="Arial MT"/>
                <a:cs typeface="Arial MT"/>
              </a:rPr>
              <a:t>Refit</a:t>
            </a:r>
            <a:r>
              <a:rPr lang="en-GB" sz="900" spc="165" dirty="0">
                <a:latin typeface="Arial MT"/>
                <a:cs typeface="Arial MT"/>
              </a:rPr>
              <a:t> (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      -  </a:t>
            </a:r>
            <a:r>
              <a:rPr lang="en-US" sz="900" dirty="0">
                <a:latin typeface="Arial MT"/>
                <a:cs typeface="Arial MT"/>
              </a:rPr>
              <a:t>Deploy to map</a:t>
            </a:r>
            <a:r>
              <a:rPr lang="en-GB" sz="900" spc="165" dirty="0">
                <a:latin typeface="Arial MT"/>
                <a:cs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	</a:t>
            </a:r>
            <a:r>
              <a:rPr lang="en-GB" sz="900" i="1" spc="-10" dirty="0">
                <a:solidFill>
                  <a:schemeClr val="tx1"/>
                </a:solidFill>
                <a:latin typeface="Arial MT"/>
                <a:cs typeface="Arial"/>
              </a:rPr>
              <a:t>(requires Hitler roll)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endParaRPr lang="en-GB" sz="900" spc="165" dirty="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422744" y="5528252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</a:t>
            </a:r>
            <a:r>
              <a:rPr lang="en-US" sz="900" i="1" dirty="0">
                <a:latin typeface="Arial MT"/>
                <a:cs typeface="Arial"/>
              </a:rPr>
              <a:t>Strategic Reserve Box</a:t>
            </a:r>
            <a:endParaRPr sz="900" i="1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235853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 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90693" y="1345183"/>
            <a:ext cx="3588258" cy="193642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Army Battle Value + terrain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DRMs (Pz Units, Nebel, Kampf, Model)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Attack Strength &gt; Defense Strength – advance Ger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if Panzer Units/Kampgruppen involved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any Pz Units/Kampgruppen -&gt; 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</a:t>
            </a:r>
            <a:r>
              <a:rPr lang="en-US" sz="900" dirty="0" err="1">
                <a:latin typeface="Arial MT"/>
                <a:cs typeface="Arial MT"/>
              </a:rPr>
              <a:t>elim</a:t>
            </a:r>
            <a:r>
              <a:rPr lang="en-US" sz="900" dirty="0">
                <a:latin typeface="Arial MT"/>
                <a:cs typeface="Arial MT"/>
              </a:rPr>
              <a:t>: take loss from Pz unit or Nebelwerfer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1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unsuccessful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6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successful</a:t>
            </a:r>
            <a:endParaRPr lang="en-US" sz="900" dirty="0">
              <a:latin typeface="Arial MT"/>
              <a:cs typeface="Arial MT"/>
            </a:endParaRP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55585" y="4130689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Defense Value is &gt;= 6 more than Attack Value in Fortress – Declare Siege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Siege Table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66641" y="1193494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293898" y="1224170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08F5805-45D5-6338-CD48-D77416722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442306" y="6387124"/>
            <a:ext cx="3236121" cy="81560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Attempt to Increate a Resource Level on the Resource tracks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 Base Value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Attempts </a:t>
            </a:r>
            <a:r>
              <a:rPr lang="en-US" sz="900" b="1" i="1" dirty="0">
                <a:latin typeface="Arial MT"/>
                <a:cs typeface="Arial"/>
              </a:rPr>
              <a:t>NOT  </a:t>
            </a:r>
            <a:r>
              <a:rPr lang="en-US" sz="900" dirty="0">
                <a:latin typeface="Arial MT"/>
                <a:cs typeface="Arial"/>
              </a:rPr>
              <a:t>Resource Checks except weather +1 DRM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442306" y="7249398"/>
            <a:ext cx="3236121" cy="85151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Build Fortified Villages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“Fortified Villages” marker on any space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3 </a:t>
            </a:r>
            <a:r>
              <a:rPr lang="en-US" sz="900">
                <a:latin typeface="Arial MT"/>
                <a:cs typeface="Arial"/>
              </a:rPr>
              <a:t>until captured</a:t>
            </a:r>
            <a:endParaRPr lang="en-US" sz="900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Fortress rules apply, e.g., Siege rules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Cannot be built on Falaise Gap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422744" y="8094179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to Strat Res Box  </a:t>
            </a:r>
            <a:r>
              <a:rPr lang="en-GB" sz="1000" spc="165" dirty="0">
                <a:latin typeface="Arial MT"/>
                <a:cs typeface="Arial MT"/>
              </a:rPr>
              <a:t>(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59367" y="2752669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ROLLS / CHECKS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57946" y="2906264"/>
            <a:ext cx="3588258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increase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Base Value on counter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DRMs on cards for Resource Checks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+1 DRM on Transport and Supply if weather is overcast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40796" y="4764419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MOVEMENT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55585" y="4941689"/>
            <a:ext cx="3647946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activates when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advances to Avranches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+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&lt;= defense, not in fortress, 1 loss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&gt; than defense, defender takes 1 loss (advance) and if pz unit present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67576" y="609608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BREAKDOWN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73143" y="6269127"/>
            <a:ext cx="3588258" cy="671979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When 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reaches St Malo, replace with two corps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VIII Corps goes to Brittany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XV Corps to Rennes and onwards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Recombine if VIII Corps “catches up”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462298" y="8772341"/>
            <a:ext cx="2771775" cy="118186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Roll one die for each army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320226" y="8619997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4001654" y="4014008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081254" y="7707954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874408" y="7646942"/>
            <a:ext cx="3825698" cy="160556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1300">
              <a:spcBef>
                <a:spcPts val="229"/>
              </a:spcBef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loss of S Caen, -2 Brest, Lorient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defeat on defense when Panzer units present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90693" y="903094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55086" y="9181276"/>
            <a:ext cx="3588258" cy="81047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Card #20-&gt; </a:t>
            </a:r>
            <a:r>
              <a:rPr lang="en-GB" sz="900" dirty="0"/>
              <a:t>if N Caen  and Avranches are both Allied controlled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81255" y="694960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873143" y="7104008"/>
            <a:ext cx="3588258" cy="78483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Supply Level reaches 0, minus 1 to all Defense Values for player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per Panzer Unit (divisions, Kampfgruppen,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Tiger Battalion all count)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11124</TotalTime>
  <Words>838</Words>
  <Application>Microsoft Office PowerPoint</Application>
  <PresentationFormat>Custom</PresentationFormat>
  <Paragraphs>97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MT</vt:lpstr>
      <vt:lpstr>Calibri</vt:lpstr>
      <vt:lpstr>Vinque</vt:lpstr>
      <vt:lpstr>Wingdings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56</cp:revision>
  <dcterms:created xsi:type="dcterms:W3CDTF">2026-02-15T09:03:45Z</dcterms:created>
  <dcterms:modified xsi:type="dcterms:W3CDTF">2026-05-03T15:37:32Z</dcterms:modified>
</cp:coreProperties>
</file>