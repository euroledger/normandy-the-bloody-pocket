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88418" autoAdjust="0"/>
  </p:normalViewPr>
  <p:slideViewPr>
    <p:cSldViewPr>
      <p:cViewPr varScale="1">
        <p:scale>
          <a:sx n="58" d="100"/>
          <a:sy n="58" d="100"/>
        </p:scale>
        <p:origin x="2112" y="5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3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5/8/2026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5/8/2026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5/8/2026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5/8/2026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6097" y="2059596"/>
            <a:ext cx="3328931" cy="244073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place in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endParaRPr sz="900" i="1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place in </a:t>
            </a:r>
            <a:r>
              <a:rPr lang="en-US" sz="900" i="1" dirty="0">
                <a:latin typeface="Arial MT"/>
                <a:cs typeface="Arial MT"/>
              </a:rPr>
              <a:t>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</a:t>
            </a:r>
            <a:r>
              <a:rPr lang="en-US" sz="900" i="1" dirty="0">
                <a:latin typeface="Arial MT"/>
                <a:cs typeface="Arial MT"/>
              </a:rPr>
              <a:t>in In Transit Box </a:t>
            </a:r>
            <a:r>
              <a:rPr lang="en-US" sz="900" dirty="0">
                <a:latin typeface="Arial MT"/>
                <a:cs typeface="Arial MT"/>
              </a:rPr>
              <a:t>make 1 Transport Check per turn (free); successful roll: move to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deploy from Strategic Reserve Box to map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) </a:t>
            </a:r>
            <a:r>
              <a:rPr lang="en-US" sz="900" dirty="0">
                <a:latin typeface="Arial MT"/>
                <a:cs typeface="Arial MT"/>
              </a:rPr>
              <a:t>must pass Hitler Check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US" sz="900" dirty="0">
                <a:latin typeface="Arial MT"/>
                <a:cs typeface="Arial MT"/>
              </a:rPr>
              <a:t>or to Strategic Reserve Box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Deploy Kampfgruppen/Nebel/Flak from the </a:t>
            </a:r>
            <a:r>
              <a:rPr lang="en-US" sz="900" i="1" dirty="0">
                <a:latin typeface="Arial MT"/>
                <a:cs typeface="Arial MT"/>
              </a:rPr>
              <a:t>Strategic Reserve Box</a:t>
            </a:r>
            <a:r>
              <a:rPr lang="en-US" sz="900" dirty="0">
                <a:latin typeface="Arial MT"/>
                <a:cs typeface="Arial MT"/>
              </a:rPr>
              <a:t> to map (no cost)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240665" marR="5080" lvl="1">
              <a:lnSpc>
                <a:spcPct val="120000"/>
              </a:lnSpc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	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2744" y="4005750"/>
            <a:ext cx="3290953" cy="168789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not redeploy out of Siege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</a:t>
            </a:r>
            <a:r>
              <a:rPr lang="en-US" sz="900" i="1" dirty="0">
                <a:latin typeface="Arial MT"/>
                <a:cs typeface="Arial"/>
              </a:rPr>
              <a:t>Strategic Reserve Box</a:t>
            </a:r>
            <a:endParaRPr sz="900" i="1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if Panzer Units/Kampgruppen involved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</a:t>
            </a:r>
            <a:r>
              <a:rPr lang="en-US" sz="900" dirty="0" err="1">
                <a:latin typeface="Arial MT"/>
                <a:cs typeface="Arial MT"/>
              </a:rPr>
              <a:t>elim</a:t>
            </a:r>
            <a:r>
              <a:rPr lang="en-US" sz="900" dirty="0">
                <a:latin typeface="Arial MT"/>
                <a:cs typeface="Arial MT"/>
              </a:rPr>
              <a:t>: take loss from Pz unit or Nebelwerfer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 / 6 </a:t>
            </a:r>
            <a:r>
              <a:rPr lang="en-US" sz="900" spc="-10" dirty="0" err="1">
                <a:latin typeface="Arial MT"/>
                <a:cs typeface="Arial MT"/>
              </a:rPr>
              <a:t>succesful</a:t>
            </a:r>
            <a:endParaRPr lang="en-US" sz="900" spc="-1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Cannot counter-attack beaches after turn 2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Defense Value is &gt;= 6 more than Attack Value in Fortress – Declare Siege. </a:t>
            </a:r>
            <a:r>
              <a:rPr lang="en-US" sz="900">
                <a:latin typeface="Arial MT"/>
                <a:cs typeface="Arial MT"/>
              </a:rPr>
              <a:t>1d6 </a:t>
            </a:r>
            <a:r>
              <a:rPr lang="en-US" sz="900" dirty="0">
                <a:latin typeface="Arial MT"/>
                <a:cs typeface="Arial MT"/>
              </a:rPr>
              <a:t>Siege Table when army listed to attack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move units into or out of besieged space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 Base Value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 except weather +1 DRM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8515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Build Fortified Villages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“Fortified Villages” marker on any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3 </a:t>
            </a:r>
            <a:r>
              <a:rPr lang="en-US" sz="900">
                <a:latin typeface="Arial MT"/>
                <a:cs typeface="Arial"/>
              </a:rPr>
              <a:t>until captured</a:t>
            </a:r>
            <a:endParaRPr lang="en-US"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Cannot be built on Falaise Gap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4" y="8094179"/>
            <a:ext cx="3236121" cy="52322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to Strat Res Box  </a:t>
            </a:r>
            <a:r>
              <a:rPr lang="en-GB" sz="1000" spc="165" dirty="0">
                <a:latin typeface="Arial MT"/>
                <a:cs typeface="Arial MT"/>
              </a:rPr>
              <a:t>(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&lt;= defense, not in fortress,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&gt; than defense, defender takes 1 loss (advance) and if pz unit present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67576" y="609608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BREAKDOWN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73143" y="6269127"/>
            <a:ext cx="3588258" cy="671979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When 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reaches </a:t>
            </a:r>
            <a:r>
              <a:rPr lang="en-US" sz="900" dirty="0" err="1">
                <a:latin typeface="Arial MT"/>
                <a:cs typeface="Arial MT"/>
              </a:rPr>
              <a:t>Avracnhes</a:t>
            </a:r>
            <a:r>
              <a:rPr lang="en-US" sz="900" dirty="0">
                <a:latin typeface="Arial MT"/>
                <a:cs typeface="Arial MT"/>
              </a:rPr>
              <a:t>,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VIII Corps advances into St Malo (</a:t>
            </a:r>
            <a:r>
              <a:rPr lang="en-US" sz="900">
                <a:latin typeface="Arial MT"/>
                <a:cs typeface="Arial MT"/>
              </a:rPr>
              <a:t>then into Britanny)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XV Corps advances to Rennes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Recombine if VIII Corps “catches up”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4" y="7707954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874408" y="7646942"/>
            <a:ext cx="3825698" cy="160556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1300">
              <a:spcBef>
                <a:spcPts val="229"/>
              </a:spcBef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loss of S Caen, -2 Brest, Lorient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-1 for defeat on defense when Panzer units present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#20-&gt; </a:t>
            </a:r>
            <a:r>
              <a:rPr lang="en-GB" sz="900" dirty="0"/>
              <a:t>if N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694960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73143" y="710400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BDF62A-F17F-18C4-0934-5418304A3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B464BBE-D37D-CC76-A48B-B69D20BB4967}"/>
              </a:ext>
            </a:extLst>
          </p:cNvPr>
          <p:cNvSpPr txBox="1"/>
          <p:nvPr/>
        </p:nvSpPr>
        <p:spPr>
          <a:xfrm>
            <a:off x="1875121" y="821324"/>
            <a:ext cx="402215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r>
              <a:rPr lang="en-US" b="1" spc="-25" dirty="0">
                <a:latin typeface="Vinque" panose="020E0603000000020003" pitchFamily="34" charset="0"/>
                <a:cs typeface="Arial MT"/>
              </a:rPr>
              <a:t> – KEY CONCEPTS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D3F1307-DB4D-5A23-8452-D17608C19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962B93-DF2C-BBC9-96F2-CC609D7D6967}"/>
                  </a:ext>
                </a:extLst>
              </p:cNvPr>
              <p:cNvSpPr txBox="1"/>
              <p:nvPr/>
            </p:nvSpPr>
            <p:spPr>
              <a:xfrm>
                <a:off x="1524001" y="969383"/>
                <a:ext cx="5943600" cy="8387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>
                  <a:buNone/>
                </a:pPr>
                <a:endParaRPr lang="en-GB" sz="3200" b="0" i="0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</a:t>
                </a: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ATTACK STRENGTH: Sum of all Attack Strength modifiers + d6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</a:t>
                </a:r>
                <a:r>
                  <a:rPr lang="en-GB" sz="1100" b="0" i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DEFENSE STRENGTH: </a:t>
                </a: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Terrain Value + Combat Modifiers from Units present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ALLIED ATTACK STRENGTH &gt; GERMAN DEFENSE STRENGTH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ARMY ADVANCES, GERMAN DEFENDING FORCES RETREAT 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DEFENSE CONTAINS ANY PANZER UNITS, HITLER APPROVAL DOWN 1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 (REGARDLESS OF RESULT)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endParaRPr lang="en-GB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COUNTER-ATTACKS</a:t>
                </a:r>
                <a:b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</a:b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ALLIED DEFENSE STRENGTH: Army Defense Rating + Sum of all Defense Strength modifiers 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 STRENGTH: Sum of all Unit Attack Strengths + d6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 GERMAN ATTACK STRENGTH &gt; ALLIED DEFENSE STRENGTH 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ATTACKING  UNITS ADVANCE, ALLIED ARMY RETREATS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spcAft>
                    <a:spcPts val="1000"/>
                  </a:spcAft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HITLER APPROVAL UP 1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342900" marR="0" lvl="0" indent="-342900">
                  <a:lnSpc>
                    <a:spcPct val="115000"/>
                  </a:lnSpc>
                  <a:buFont typeface="Wingdings" panose="05000000000000000000" pitchFamily="2" charset="2"/>
                  <a:buChar char=""/>
                </a:pPr>
                <a:r>
                  <a:rPr lang="en-GB" sz="11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GERMAN FORCES LOSE 1 STRENGTH POINT</a:t>
                </a:r>
                <a:endParaRPr lang="en-US" sz="11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68580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ROLL</a:t>
                </a:r>
              </a:p>
              <a:p>
                <a:pPr marL="0" marR="0">
                  <a:buNone/>
                </a:pP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INCREASE RESOURCE LEVEL IF:</a:t>
                </a: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1100" b="1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</a:t>
                </a: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d6 &gt; Base Level (shown on counter)</a:t>
                </a:r>
              </a:p>
              <a:p>
                <a:pPr marL="0" marR="0">
                  <a:buNone/>
                </a:pP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1200" b="1" i="0" dirty="0">
                    <a:solidFill>
                      <a:srgbClr val="000000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RESOURCE CHECK</a:t>
                </a:r>
              </a:p>
              <a:p>
                <a:pPr marL="0" marR="0">
                  <a:buNone/>
                </a:pPr>
                <a:endParaRPr lang="en-US" sz="1200" b="1" i="0" dirty="0">
                  <a:solidFill>
                    <a:srgbClr val="000000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CHECK SUCCEEDS IF:</a:t>
                </a: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buNone/>
                </a:pPr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	d6 </a:t>
                </a:r>
                <a14:m>
                  <m:oMath xmlns:m="http://schemas.openxmlformats.org/officeDocument/2006/math">
                    <m:r>
                      <a:rPr lang="en-GB" sz="11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≤</m:t>
                    </m:r>
                  </m:oMath>
                </a14:m>
                <a:r>
                  <a:rPr lang="en-GB" sz="1100" b="0" i="0" dirty="0">
                    <a:effectLst/>
                    <a:latin typeface="Berkeley Book" panose="02020500000000000000" pitchFamily="18" charset="0"/>
                    <a:ea typeface="Times New Roman" panose="02020603050405020304" pitchFamily="18" charset="0"/>
                  </a:rPr>
                  <a:t> Current Resource Level</a:t>
                </a:r>
                <a:endParaRPr lang="en-US" sz="1100" b="1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marR="0">
                  <a:lnSpc>
                    <a:spcPct val="115000"/>
                  </a:lnSpc>
                  <a:spcAft>
                    <a:spcPts val="1000"/>
                  </a:spcAft>
                  <a:buNone/>
                </a:pPr>
                <a:r>
                  <a:rPr lang="en-GB" sz="1800" b="0" i="0" dirty="0">
                    <a:solidFill>
                      <a:srgbClr val="000000"/>
                    </a:solidFill>
                    <a:effectLst/>
                    <a:latin typeface="Berkeley Book" panose="02020500000000000000" pitchFamily="18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1800" b="0" i="0" dirty="0">
                  <a:solidFill>
                    <a:srgbClr val="000000"/>
                  </a:solidFill>
                  <a:effectLst/>
                  <a:latin typeface="Berkeley Book" panose="02020500000000000000" pitchFamily="18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>
                  <a:buNone/>
                </a:pPr>
                <a:r>
                  <a:rPr lang="en-GB" sz="3200" b="0" i="0" kern="0" dirty="0">
                    <a:solidFill>
                      <a:srgbClr val="4F6228"/>
                    </a:solidFill>
                    <a:effectLst/>
                    <a:latin typeface="Vinque" panose="020E0603000000020003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 </a:t>
                </a:r>
                <a:endParaRPr lang="en-US" sz="4000" b="1" i="1" kern="0" dirty="0">
                  <a:solidFill>
                    <a:srgbClr val="4F6228"/>
                  </a:solidFill>
                  <a:effectLst/>
                  <a:latin typeface="Vinque" panose="020E0603000000020003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A962B93-DF2C-BBC9-96F2-CC609D7D69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1" y="969383"/>
                <a:ext cx="5943600" cy="83874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0227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14387</TotalTime>
  <Words>1017</Words>
  <Application>Microsoft Office PowerPoint</Application>
  <PresentationFormat>Custom</PresentationFormat>
  <Paragraphs>128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 MT</vt:lpstr>
      <vt:lpstr>Berkeley Book</vt:lpstr>
      <vt:lpstr>Calibri</vt:lpstr>
      <vt:lpstr>Cambria Math</vt:lpstr>
      <vt:lpstr>Times New Roman</vt:lpstr>
      <vt:lpstr>Vinque</vt:lpstr>
      <vt:lpstr>Wingdings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61</cp:revision>
  <dcterms:created xsi:type="dcterms:W3CDTF">2026-02-15T09:03:45Z</dcterms:created>
  <dcterms:modified xsi:type="dcterms:W3CDTF">2026-05-09T16:27:49Z</dcterms:modified>
</cp:coreProperties>
</file>