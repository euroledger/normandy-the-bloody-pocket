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9" r:id="rId2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2" autoAdjust="0"/>
    <p:restoredTop sz="94660"/>
  </p:normalViewPr>
  <p:slideViewPr>
    <p:cSldViewPr>
      <p:cViewPr varScale="1">
        <p:scale>
          <a:sx n="62" d="100"/>
          <a:sy n="62" d="100"/>
        </p:scale>
        <p:origin x="2012" y="5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4/20/2026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4/20/2026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4/20/2026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4/20/2026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4/20/2026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6"/>
            <a:ext cx="6995160" cy="16093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2"/>
            <a:ext cx="2487168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4/20/2026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96128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241DA3-3300-BB5F-8C38-700492E2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13612C8-BD91-1210-C1B6-E5632A4A11F9}"/>
              </a:ext>
            </a:extLst>
          </p:cNvPr>
          <p:cNvSpPr txBox="1"/>
          <p:nvPr/>
        </p:nvSpPr>
        <p:spPr>
          <a:xfrm>
            <a:off x="2988245" y="766944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2AAB1AF-EE01-B565-793B-20F41F6DC513}"/>
              </a:ext>
            </a:extLst>
          </p:cNvPr>
          <p:cNvSpPr txBox="1"/>
          <p:nvPr/>
        </p:nvSpPr>
        <p:spPr>
          <a:xfrm>
            <a:off x="408059" y="1182770"/>
            <a:ext cx="3265489" cy="866904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0"/>
              </a:spcBef>
            </a:pPr>
            <a:endParaRPr sz="1000" b="1" dirty="0">
              <a:latin typeface="Arial MT"/>
              <a:cs typeface="Arial MT"/>
            </a:endParaRPr>
          </a:p>
          <a:p>
            <a:pPr marL="152400" indent="-139700">
              <a:lnSpc>
                <a:spcPct val="100000"/>
              </a:lnSpc>
              <a:spcBef>
                <a:spcPts val="229"/>
              </a:spcBef>
              <a:buAutoNum type="arabicPeriod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Launch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b="1" dirty="0">
                <a:latin typeface="Arial MT"/>
                <a:cs typeface="Arial MT"/>
              </a:rPr>
              <a:t>Offensive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sz="1000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</a:t>
            </a:r>
            <a:r>
              <a:rPr lang="en-US" sz="900" i="1" dirty="0">
                <a:latin typeface="Arial MT"/>
                <a:cs typeface="Arial MT"/>
              </a:rPr>
              <a:t>Counter Attacks</a:t>
            </a:r>
            <a:endParaRPr lang="en-US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04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1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unsuccessful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6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successful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89A5576-8934-26FA-E726-B9C6099B4A8D}"/>
              </a:ext>
            </a:extLst>
          </p:cNvPr>
          <p:cNvSpPr txBox="1"/>
          <p:nvPr/>
        </p:nvSpPr>
        <p:spPr>
          <a:xfrm>
            <a:off x="386097" y="2059596"/>
            <a:ext cx="3328931" cy="244073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52400" indent="-139700">
              <a:lnSpc>
                <a:spcPct val="100000"/>
              </a:lnSpc>
              <a:spcBef>
                <a:spcPts val="320"/>
              </a:spcBef>
              <a:buAutoNum type="arabicPeriod" startAt="2"/>
              <a:tabLst>
                <a:tab pos="152400" algn="l"/>
              </a:tabLst>
            </a:pPr>
            <a:r>
              <a:rPr lang="en-US" sz="1000" b="1" dirty="0">
                <a:latin typeface="Arial MT"/>
                <a:cs typeface="Arial"/>
              </a:rPr>
              <a:t>Deploy Reinforcements </a:t>
            </a:r>
            <a:endParaRPr sz="1000" b="1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Make Transport Check (Success is &lt; Transport Level)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Successful – place in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endParaRPr sz="900" i="1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Unsuccessful – place in </a:t>
            </a:r>
            <a:r>
              <a:rPr lang="en-US" sz="900" i="1" dirty="0">
                <a:latin typeface="Arial MT"/>
                <a:cs typeface="Arial MT"/>
              </a:rPr>
              <a:t>In Transit Box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Units </a:t>
            </a:r>
            <a:r>
              <a:rPr lang="en-US" sz="900" i="1" dirty="0">
                <a:latin typeface="Arial MT"/>
                <a:cs typeface="Arial MT"/>
              </a:rPr>
              <a:t>in In Transit Box </a:t>
            </a:r>
            <a:r>
              <a:rPr lang="en-US" sz="900" dirty="0">
                <a:latin typeface="Arial MT"/>
                <a:cs typeface="Arial MT"/>
              </a:rPr>
              <a:t>make 1 Transport Check per turn (free); successful roll: move to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deploy from Strategic Reserve Box to map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) </a:t>
            </a:r>
            <a:r>
              <a:rPr lang="en-US" sz="900" dirty="0">
                <a:latin typeface="Arial MT"/>
                <a:cs typeface="Arial MT"/>
              </a:rPr>
              <a:t>must pass Hitler Check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</a:t>
            </a:r>
            <a:endParaRPr lang="en-GB" sz="900" spc="95" dirty="0">
              <a:latin typeface="Arial MT"/>
              <a:cs typeface="Arial MT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Kampfgruppen/Nebel/Flak move directly to map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US" sz="900" dirty="0">
                <a:latin typeface="Arial MT"/>
                <a:cs typeface="Arial MT"/>
              </a:rPr>
              <a:t>or to Strategic Reserve Box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Deploy Kampfgruppen/Nebel/Flak from the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r>
              <a:rPr lang="en-US" sz="900" dirty="0">
                <a:latin typeface="Arial MT"/>
                <a:cs typeface="Arial MT"/>
              </a:rPr>
              <a:t> to map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240665" marR="5080" lvl="1">
              <a:lnSpc>
                <a:spcPct val="120000"/>
              </a:lnSpc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	</a:t>
            </a:r>
            <a:r>
              <a:rPr lang="en-US" sz="900" dirty="0">
                <a:latin typeface="Arial MT"/>
                <a:cs typeface="Arial MT"/>
              </a:rPr>
              <a:t> </a:t>
            </a: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D80BC3E-339F-0CC3-71E4-4794F85F8D96}"/>
              </a:ext>
            </a:extLst>
          </p:cNvPr>
          <p:cNvSpPr txBox="1"/>
          <p:nvPr/>
        </p:nvSpPr>
        <p:spPr>
          <a:xfrm>
            <a:off x="424075" y="4065776"/>
            <a:ext cx="3290953" cy="135960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60325" indent="139700">
              <a:lnSpc>
                <a:spcPct val="117900"/>
              </a:lnSpc>
              <a:spcBef>
                <a:spcPts val="90"/>
              </a:spcBef>
              <a:buAutoNum type="arabicPeriod" startAt="3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Re</a:t>
            </a:r>
            <a:r>
              <a:rPr lang="en-US" sz="1000" b="1" dirty="0">
                <a:latin typeface="Arial MT"/>
                <a:cs typeface="Arial MT"/>
              </a:rPr>
              <a:t>deploy Panzer Unit to Strategic Reserve Box/Other Units Move 1 space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Must pass Transport Check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Units in Strategic Reserve can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	- </a:t>
            </a:r>
            <a:r>
              <a:rPr lang="en-US" sz="900" dirty="0">
                <a:latin typeface="Arial MT"/>
                <a:cs typeface="Arial MT"/>
              </a:rPr>
              <a:t>Remain</a:t>
            </a:r>
            <a:endParaRPr lang="en-GB" sz="900" spc="165" dirty="0">
              <a:latin typeface="Arial MT"/>
              <a:cs typeface="Arial MT"/>
            </a:endParaRP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  	- </a:t>
            </a:r>
            <a:r>
              <a:rPr lang="en-US" sz="900" dirty="0">
                <a:latin typeface="Arial MT"/>
                <a:cs typeface="Arial MT"/>
              </a:rPr>
              <a:t>Refit</a:t>
            </a:r>
            <a:r>
              <a:rPr lang="en-GB" sz="900" spc="165" dirty="0">
                <a:latin typeface="Arial MT"/>
                <a:cs typeface="Arial MT"/>
              </a:rPr>
              <a:t> (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      -  </a:t>
            </a:r>
            <a:r>
              <a:rPr lang="en-US" sz="900" dirty="0">
                <a:latin typeface="Arial MT"/>
                <a:cs typeface="Arial MT"/>
              </a:rPr>
              <a:t>Deploy to map</a:t>
            </a:r>
            <a:r>
              <a:rPr lang="en-GB" sz="900" spc="165" dirty="0">
                <a:latin typeface="Arial MT"/>
                <a:cs typeface="Arial MT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	</a:t>
            </a:r>
            <a:r>
              <a:rPr lang="en-GB" sz="900" i="1" spc="-10" dirty="0">
                <a:solidFill>
                  <a:schemeClr val="tx1"/>
                </a:solidFill>
                <a:latin typeface="Arial MT"/>
                <a:cs typeface="Arial"/>
              </a:rPr>
              <a:t>(requires Hitler roll)</a:t>
            </a:r>
            <a:endParaRPr lang="en-GB" sz="900" spc="165" dirty="0">
              <a:latin typeface="Arial MT"/>
              <a:cs typeface="Arial M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FD24B1D-D35A-50A9-AD7B-63B5DDAA0239}"/>
              </a:ext>
            </a:extLst>
          </p:cNvPr>
          <p:cNvSpPr txBox="1"/>
          <p:nvPr/>
        </p:nvSpPr>
        <p:spPr>
          <a:xfrm>
            <a:off x="422744" y="5528252"/>
            <a:ext cx="3236121" cy="84895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4. </a:t>
            </a:r>
            <a:r>
              <a:rPr lang="en-US" sz="1000" b="1" dirty="0">
                <a:latin typeface="Arial MT"/>
                <a:cs typeface="Arial MT"/>
              </a:rPr>
              <a:t>Refit Reduced Panzer Unit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Must be in </a:t>
            </a:r>
            <a:r>
              <a:rPr lang="en-US" sz="900" i="1" dirty="0">
                <a:latin typeface="Arial MT"/>
                <a:cs typeface="Arial"/>
              </a:rPr>
              <a:t>Strategic Reserve Box</a:t>
            </a:r>
            <a:endParaRPr sz="900" i="1" dirty="0"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refit </a:t>
            </a:r>
            <a:r>
              <a:rPr lang="en-US" sz="900" i="1" dirty="0">
                <a:latin typeface="Arial MT"/>
                <a:cs typeface="Arial MT"/>
              </a:rPr>
              <a:t>Kampfgruppen </a:t>
            </a:r>
            <a:r>
              <a:rPr lang="en-US" sz="900" dirty="0">
                <a:latin typeface="Arial MT"/>
                <a:cs typeface="Arial MT"/>
              </a:rPr>
              <a:t>or rebuild eliminated units</a:t>
            </a:r>
            <a:endParaRPr lang="en-US" sz="900" i="1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Reduced Panzer Units are flipped to Full Strength (+1 to +2)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09409CF-43CD-56E9-16E9-DC5FA40D807A}"/>
              </a:ext>
            </a:extLst>
          </p:cNvPr>
          <p:cNvSpPr txBox="1"/>
          <p:nvPr/>
        </p:nvSpPr>
        <p:spPr>
          <a:xfrm>
            <a:off x="4001654" y="1235853"/>
            <a:ext cx="2009775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COUNTER ATTACKS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87D53F4F-6059-5631-1D60-72D9D83A0F10}"/>
              </a:ext>
            </a:extLst>
          </p:cNvPr>
          <p:cNvSpPr txBox="1"/>
          <p:nvPr/>
        </p:nvSpPr>
        <p:spPr>
          <a:xfrm>
            <a:off x="4090693" y="1345183"/>
            <a:ext cx="3588258" cy="193642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Defense Strength is Army Battle Value + terrain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Attack Strength is Attack DRMs (Pz Units, Nebel, Kampf, Model)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Roll + Attack Strength &gt; Defense Strength – advance Ger Units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Cost 1 supply point if Panzer Units/Kampgruppen involved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any Pz Units/Kampgruppen -&gt; victory is +1 to Hitler Approval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Defeat – 1 loss to Pz units, Nebelwerfers eliminated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unmodified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roll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of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1</a:t>
            </a:r>
            <a:r>
              <a:rPr lang="en-US" sz="900" spc="5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is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10" dirty="0">
                <a:latin typeface="Arial MT"/>
                <a:cs typeface="Arial MT"/>
              </a:rPr>
              <a:t>always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-10" dirty="0">
                <a:latin typeface="Arial MT"/>
                <a:cs typeface="Arial MT"/>
              </a:rPr>
              <a:t>unsuccessful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unmodified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roll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of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6</a:t>
            </a:r>
            <a:r>
              <a:rPr lang="en-US" sz="900" spc="5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is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10" dirty="0">
                <a:latin typeface="Arial MT"/>
                <a:cs typeface="Arial MT"/>
              </a:rPr>
              <a:t>always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-10" dirty="0">
                <a:latin typeface="Arial MT"/>
                <a:cs typeface="Arial MT"/>
              </a:rPr>
              <a:t>successful</a:t>
            </a:r>
            <a:endParaRPr lang="en-US" sz="900" dirty="0">
              <a:latin typeface="Arial MT"/>
              <a:cs typeface="Arial MT"/>
            </a:endParaRP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7937B94-3B38-9D04-ADB9-B5F08CF0556B}"/>
              </a:ext>
            </a:extLst>
          </p:cNvPr>
          <p:cNvSpPr txBox="1"/>
          <p:nvPr/>
        </p:nvSpPr>
        <p:spPr>
          <a:xfrm>
            <a:off x="3855585" y="4130689"/>
            <a:ext cx="3588258" cy="64633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Defense Value is &gt;= 6 more than Attack Value in Fortress – Declare Siege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Siege Table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Place Siege marker on space 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AE31069-78C2-8B2E-177B-3E11C457FA85}"/>
              </a:ext>
            </a:extLst>
          </p:cNvPr>
          <p:cNvSpPr/>
          <p:nvPr/>
        </p:nvSpPr>
        <p:spPr>
          <a:xfrm flipH="1">
            <a:off x="3766641" y="1193494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p:sp>
        <p:nvSpPr>
          <p:cNvPr id="24" name="object 9">
            <a:extLst>
              <a:ext uri="{FF2B5EF4-FFF2-40B4-BE49-F238E27FC236}">
                <a16:creationId xmlns:a16="http://schemas.microsoft.com/office/drawing/2014/main" id="{41838AA3-2C5F-B16C-6FE3-17442F3AC370}"/>
              </a:ext>
            </a:extLst>
          </p:cNvPr>
          <p:cNvSpPr txBox="1"/>
          <p:nvPr/>
        </p:nvSpPr>
        <p:spPr>
          <a:xfrm>
            <a:off x="293898" y="1224170"/>
            <a:ext cx="1791335" cy="16350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ACTIONS</a:t>
            </a:r>
            <a:endParaRPr sz="950" b="1" dirty="0">
              <a:latin typeface="Vinque" panose="020E0603000000020003" pitchFamily="34" charset="0"/>
              <a:cs typeface="Arial MT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08F5805-45D5-6338-CD48-D77416722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964" y="66646"/>
            <a:ext cx="1710176" cy="754678"/>
          </a:xfrm>
          <a:prstGeom prst="rect">
            <a:avLst/>
          </a:prstGeom>
        </p:spPr>
      </p:pic>
      <p:sp>
        <p:nvSpPr>
          <p:cNvPr id="6" name="object 7">
            <a:extLst>
              <a:ext uri="{FF2B5EF4-FFF2-40B4-BE49-F238E27FC236}">
                <a16:creationId xmlns:a16="http://schemas.microsoft.com/office/drawing/2014/main" id="{9026D135-B64A-4B10-CECA-5F17FABD84ED}"/>
              </a:ext>
            </a:extLst>
          </p:cNvPr>
          <p:cNvSpPr txBox="1"/>
          <p:nvPr/>
        </p:nvSpPr>
        <p:spPr>
          <a:xfrm>
            <a:off x="442306" y="6387124"/>
            <a:ext cx="3236121" cy="81560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5. </a:t>
            </a:r>
            <a:r>
              <a:rPr lang="en-GB" sz="1000" b="1" dirty="0">
                <a:latin typeface="Arial MT"/>
              </a:rPr>
              <a:t>Attempt to Increate a Resource Level on the Resource tracks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 per track)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Roll &gt;  Base Value to increase resource level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DRMs on cards are for Resource Attempts </a:t>
            </a:r>
            <a:r>
              <a:rPr lang="en-US" sz="900" b="1" i="1" dirty="0">
                <a:latin typeface="Arial MT"/>
                <a:cs typeface="Arial"/>
              </a:rPr>
              <a:t>NOT  </a:t>
            </a:r>
            <a:r>
              <a:rPr lang="en-US" sz="900" dirty="0">
                <a:latin typeface="Arial MT"/>
                <a:cs typeface="Arial"/>
              </a:rPr>
              <a:t>Resource Checks except weather +1 DRM</a:t>
            </a:r>
            <a:endParaRPr lang="en-US" sz="900" b="1" dirty="0">
              <a:latin typeface="Arial MT"/>
              <a:cs typeface="Arial"/>
            </a:endParaRPr>
          </a:p>
        </p:txBody>
      </p:sp>
      <p:sp>
        <p:nvSpPr>
          <p:cNvPr id="21" name="object 7">
            <a:extLst>
              <a:ext uri="{FF2B5EF4-FFF2-40B4-BE49-F238E27FC236}">
                <a16:creationId xmlns:a16="http://schemas.microsoft.com/office/drawing/2014/main" id="{0CE0B140-F03B-FCDE-A00A-77DE1D0ECE2D}"/>
              </a:ext>
            </a:extLst>
          </p:cNvPr>
          <p:cNvSpPr txBox="1"/>
          <p:nvPr/>
        </p:nvSpPr>
        <p:spPr>
          <a:xfrm>
            <a:off x="442306" y="7249398"/>
            <a:ext cx="3236121" cy="85151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6. </a:t>
            </a:r>
            <a:r>
              <a:rPr lang="en-GB" sz="1000" b="1" dirty="0">
                <a:latin typeface="Arial MT"/>
              </a:rPr>
              <a:t>Build Fortified Villages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3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actions)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Place “Fortified Villages” marker on Town space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Defense Value 3 for rest of game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Fortress rules apply, e.g., Siege rules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Cannot be built on Falaise Gap</a:t>
            </a:r>
          </a:p>
        </p:txBody>
      </p:sp>
      <p:sp>
        <p:nvSpPr>
          <p:cNvPr id="22" name="object 7">
            <a:extLst>
              <a:ext uri="{FF2B5EF4-FFF2-40B4-BE49-F238E27FC236}">
                <a16:creationId xmlns:a16="http://schemas.microsoft.com/office/drawing/2014/main" id="{5116F798-11E7-DE05-8FE6-265193E15B2B}"/>
              </a:ext>
            </a:extLst>
          </p:cNvPr>
          <p:cNvSpPr txBox="1"/>
          <p:nvPr/>
        </p:nvSpPr>
        <p:spPr>
          <a:xfrm>
            <a:off x="422744" y="8094179"/>
            <a:ext cx="3236121" cy="52322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7. </a:t>
            </a:r>
            <a:r>
              <a:rPr lang="en-GB" sz="1000" b="1" dirty="0">
                <a:latin typeface="Arial MT"/>
              </a:rPr>
              <a:t>Put Action(s) to Strat Res Box  </a:t>
            </a:r>
            <a:r>
              <a:rPr lang="en-GB" sz="1000" spc="165" dirty="0">
                <a:latin typeface="Arial MT"/>
                <a:cs typeface="Arial MT"/>
              </a:rPr>
              <a:t>(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Max. 2 Actions in Reserve Box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 be used in future turns</a:t>
            </a:r>
          </a:p>
        </p:txBody>
      </p:sp>
      <p:sp>
        <p:nvSpPr>
          <p:cNvPr id="26" name="object 13">
            <a:extLst>
              <a:ext uri="{FF2B5EF4-FFF2-40B4-BE49-F238E27FC236}">
                <a16:creationId xmlns:a16="http://schemas.microsoft.com/office/drawing/2014/main" id="{46D978AF-707E-430E-E7C9-ABF6A016F11E}"/>
              </a:ext>
            </a:extLst>
          </p:cNvPr>
          <p:cNvSpPr txBox="1"/>
          <p:nvPr/>
        </p:nvSpPr>
        <p:spPr>
          <a:xfrm>
            <a:off x="3959367" y="2752669"/>
            <a:ext cx="3588258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RESOURCE ROLLS / CHECKS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7" name="object 15">
            <a:extLst>
              <a:ext uri="{FF2B5EF4-FFF2-40B4-BE49-F238E27FC236}">
                <a16:creationId xmlns:a16="http://schemas.microsoft.com/office/drawing/2014/main" id="{8F53DA48-B9DB-22AB-5C23-E655AFF9B5C3}"/>
              </a:ext>
            </a:extLst>
          </p:cNvPr>
          <p:cNvSpPr txBox="1"/>
          <p:nvPr/>
        </p:nvSpPr>
        <p:spPr>
          <a:xfrm>
            <a:off x="3857946" y="2906264"/>
            <a:ext cx="3588258" cy="113877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increase resource pay 1 action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roll &gt; Base Value on counter increase by 1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For resource checks must roll &lt;= current value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DRMs on cards for Resource Checks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+1 DRM on Transport and Supply if weather is overcast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Resource Check on Supply points, these are just spent on attacks</a:t>
            </a:r>
          </a:p>
        </p:txBody>
      </p:sp>
      <p:sp>
        <p:nvSpPr>
          <p:cNvPr id="28" name="object 13">
            <a:extLst>
              <a:ext uri="{FF2B5EF4-FFF2-40B4-BE49-F238E27FC236}">
                <a16:creationId xmlns:a16="http://schemas.microsoft.com/office/drawing/2014/main" id="{742CCE1D-25CD-9364-2CF3-B83FCFA160AA}"/>
              </a:ext>
            </a:extLst>
          </p:cNvPr>
          <p:cNvSpPr txBox="1"/>
          <p:nvPr/>
        </p:nvSpPr>
        <p:spPr>
          <a:xfrm>
            <a:off x="4040796" y="4764419"/>
            <a:ext cx="320245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ALLIED ARMY MOVEMENT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9" name="object 15">
            <a:extLst>
              <a:ext uri="{FF2B5EF4-FFF2-40B4-BE49-F238E27FC236}">
                <a16:creationId xmlns:a16="http://schemas.microsoft.com/office/drawing/2014/main" id="{A46957B7-894F-0F31-594D-155CF94D44D8}"/>
              </a:ext>
            </a:extLst>
          </p:cNvPr>
          <p:cNvSpPr txBox="1"/>
          <p:nvPr/>
        </p:nvSpPr>
        <p:spPr>
          <a:xfrm>
            <a:off x="3855585" y="4941689"/>
            <a:ext cx="3647946" cy="113877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activates when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advances to Avranches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Defense Value = terrain +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 Value =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die roll + Attack Value &gt; Defense Value – advance army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&lt;= defense, not in fortress, 1 loss (no advance)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&gt; than defense, defender takes 1 loss (advance) and if pz unit present</a:t>
            </a:r>
          </a:p>
        </p:txBody>
      </p:sp>
      <p:sp>
        <p:nvSpPr>
          <p:cNvPr id="30" name="object 13">
            <a:extLst>
              <a:ext uri="{FF2B5EF4-FFF2-40B4-BE49-F238E27FC236}">
                <a16:creationId xmlns:a16="http://schemas.microsoft.com/office/drawing/2014/main" id="{A18D44D4-753E-9CBE-F19C-16E22F0EF067}"/>
              </a:ext>
            </a:extLst>
          </p:cNvPr>
          <p:cNvSpPr txBox="1"/>
          <p:nvPr/>
        </p:nvSpPr>
        <p:spPr>
          <a:xfrm>
            <a:off x="4062897" y="6138447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US 3</a:t>
            </a:r>
            <a:r>
              <a:rPr lang="en-US" sz="1000" b="1" spc="75" baseline="30000" dirty="0">
                <a:latin typeface="Vinque" panose="020E0603000000020003" pitchFamily="34" charset="0"/>
                <a:cs typeface="Arial MT"/>
              </a:rPr>
              <a:t>rd</a:t>
            </a: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 ARMY BREAKDOWN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1" name="object 15">
            <a:extLst>
              <a:ext uri="{FF2B5EF4-FFF2-40B4-BE49-F238E27FC236}">
                <a16:creationId xmlns:a16="http://schemas.microsoft.com/office/drawing/2014/main" id="{96C65BCF-B118-25C2-E53C-21FAB7BBC29E}"/>
              </a:ext>
            </a:extLst>
          </p:cNvPr>
          <p:cNvSpPr txBox="1"/>
          <p:nvPr/>
        </p:nvSpPr>
        <p:spPr>
          <a:xfrm>
            <a:off x="3873143" y="6341900"/>
            <a:ext cx="3588258" cy="671979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When 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reaches St Malo, replace with two corps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VIII Corps goes to Brittany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XV Corps to Rennes and onwards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Recombine if VIII Corps “catches up”</a:t>
            </a:r>
          </a:p>
        </p:txBody>
      </p:sp>
      <p:sp>
        <p:nvSpPr>
          <p:cNvPr id="32" name="object 10">
            <a:extLst>
              <a:ext uri="{FF2B5EF4-FFF2-40B4-BE49-F238E27FC236}">
                <a16:creationId xmlns:a16="http://schemas.microsoft.com/office/drawing/2014/main" id="{7F36106E-F967-6973-82F1-48CD85F747A6}"/>
              </a:ext>
            </a:extLst>
          </p:cNvPr>
          <p:cNvSpPr txBox="1"/>
          <p:nvPr/>
        </p:nvSpPr>
        <p:spPr>
          <a:xfrm>
            <a:off x="462298" y="8772341"/>
            <a:ext cx="2771775" cy="1181862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Cards #1 and #2 always first two cards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Roll one die for each army</a:t>
            </a:r>
            <a:endParaRPr sz="900" dirty="0">
              <a:latin typeface="Arial"/>
              <a:cs typeface="Arial"/>
            </a:endParaRPr>
          </a:p>
          <a:p>
            <a:pPr marL="2406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10" dirty="0">
                <a:latin typeface="Arial MT"/>
                <a:cs typeface="Arial MT"/>
              </a:rPr>
              <a:t>Brit/Can armies succeed if roll &gt; 1</a:t>
            </a:r>
            <a:endParaRPr sz="900" dirty="0">
              <a:latin typeface="Arial MT"/>
              <a:cs typeface="Arial MT"/>
            </a:endParaRPr>
          </a:p>
          <a:p>
            <a:pPr marL="241300" marR="113030" indent="-228600">
              <a:lnSpc>
                <a:spcPct val="120000"/>
              </a:lnSpc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succeed if roll &gt; 2</a:t>
            </a:r>
            <a:endParaRPr sz="900" dirty="0">
              <a:latin typeface="Arial MT"/>
              <a:cs typeface="Arial MT"/>
            </a:endParaRPr>
          </a:p>
          <a:p>
            <a:pPr marL="241300" marR="234950" indent="-228600">
              <a:lnSpc>
                <a:spcPts val="1370"/>
              </a:lnSpc>
              <a:spcBef>
                <a:spcPts val="55"/>
              </a:spcBef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If success put army into its beach box</a:t>
            </a:r>
            <a:endParaRPr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fail, leave in start box</a:t>
            </a: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Always succeed on turn 2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442EC1AE-A3DF-4FC8-62E4-FA7797D6C399}"/>
              </a:ext>
            </a:extLst>
          </p:cNvPr>
          <p:cNvSpPr txBox="1"/>
          <p:nvPr/>
        </p:nvSpPr>
        <p:spPr>
          <a:xfrm>
            <a:off x="320226" y="8619997"/>
            <a:ext cx="1791335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D-DAY LANDINGS</a:t>
            </a:r>
            <a:endParaRPr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4" name="object 13">
            <a:extLst>
              <a:ext uri="{FF2B5EF4-FFF2-40B4-BE49-F238E27FC236}">
                <a16:creationId xmlns:a16="http://schemas.microsoft.com/office/drawing/2014/main" id="{17D04F03-F76D-E9C2-FDF9-E30156881640}"/>
              </a:ext>
            </a:extLst>
          </p:cNvPr>
          <p:cNvSpPr txBox="1"/>
          <p:nvPr/>
        </p:nvSpPr>
        <p:spPr>
          <a:xfrm>
            <a:off x="4001654" y="4014008"/>
            <a:ext cx="2009775" cy="16286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SIEGES</a:t>
            </a:r>
            <a:endParaRPr lang="en-US" sz="95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5" name="object 13">
            <a:extLst>
              <a:ext uri="{FF2B5EF4-FFF2-40B4-BE49-F238E27FC236}">
                <a16:creationId xmlns:a16="http://schemas.microsoft.com/office/drawing/2014/main" id="{68C763C1-954E-A0B3-2DBB-2E8FAE1385B9}"/>
              </a:ext>
            </a:extLst>
          </p:cNvPr>
          <p:cNvSpPr txBox="1"/>
          <p:nvPr/>
        </p:nvSpPr>
        <p:spPr>
          <a:xfrm>
            <a:off x="4111442" y="7803558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HITLER APPROVAL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6" name="object 15">
            <a:extLst>
              <a:ext uri="{FF2B5EF4-FFF2-40B4-BE49-F238E27FC236}">
                <a16:creationId xmlns:a16="http://schemas.microsoft.com/office/drawing/2014/main" id="{16AB8EBF-35D4-CD65-7F46-3C1067E1D7FC}"/>
              </a:ext>
            </a:extLst>
          </p:cNvPr>
          <p:cNvSpPr txBox="1"/>
          <p:nvPr/>
        </p:nvSpPr>
        <p:spPr>
          <a:xfrm>
            <a:off x="3937193" y="7917816"/>
            <a:ext cx="3825698" cy="111312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Required to 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US" sz="900" dirty="0">
                <a:latin typeface="Arial MT"/>
              </a:rPr>
              <a:t>Redeploy</a:t>
            </a:r>
            <a:r>
              <a:rPr lang="en-GB" sz="900" dirty="0">
                <a:latin typeface="Arial MT"/>
              </a:rPr>
              <a:t> a panzer unit from map to Strategic Reserve box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>
                <a:latin typeface="Arial MT"/>
              </a:rPr>
              <a:t>Deploy Panzer Unit from In Transit or Strategic Reserve to map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/>
              <a:t>Avoid having to carry out “Hitler Interventions” as defined by several Event Cards</a:t>
            </a:r>
            <a:endParaRPr lang="en-US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“Hitler Intervention” cards: the player must fail the check for the intervention to go ahead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7" name="object 13">
            <a:extLst>
              <a:ext uri="{FF2B5EF4-FFF2-40B4-BE49-F238E27FC236}">
                <a16:creationId xmlns:a16="http://schemas.microsoft.com/office/drawing/2014/main" id="{4944539A-3501-AB83-5ED3-F578372FCF29}"/>
              </a:ext>
            </a:extLst>
          </p:cNvPr>
          <p:cNvSpPr txBox="1"/>
          <p:nvPr/>
        </p:nvSpPr>
        <p:spPr>
          <a:xfrm>
            <a:off x="4090693" y="903094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VICTORY/DEFEAT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8" name="object 15">
            <a:extLst>
              <a:ext uri="{FF2B5EF4-FFF2-40B4-BE49-F238E27FC236}">
                <a16:creationId xmlns:a16="http://schemas.microsoft.com/office/drawing/2014/main" id="{47A3FBC7-152B-A7B7-8D87-C6831CD1CBD7}"/>
              </a:ext>
            </a:extLst>
          </p:cNvPr>
          <p:cNvSpPr txBox="1"/>
          <p:nvPr/>
        </p:nvSpPr>
        <p:spPr>
          <a:xfrm>
            <a:off x="3955086" y="9181276"/>
            <a:ext cx="3588258" cy="81047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Any Allied Army reaches space 0 (Falaise Gap)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Hitler Approval reaches -2 -&gt;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Card #25-&gt; </a:t>
            </a:r>
            <a:r>
              <a:rPr lang="en-GB" sz="900" dirty="0"/>
              <a:t>if N Caen  and Cherbourg are both Allied controlled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No cards left and Falaise Gap German controlled -&gt; WIN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1E196108-87EB-6924-2F1D-A892481F2C22}"/>
              </a:ext>
            </a:extLst>
          </p:cNvPr>
          <p:cNvSpPr txBox="1"/>
          <p:nvPr/>
        </p:nvSpPr>
        <p:spPr>
          <a:xfrm>
            <a:off x="4081255" y="7022510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SUPPLIES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40" name="object 15">
            <a:extLst>
              <a:ext uri="{FF2B5EF4-FFF2-40B4-BE49-F238E27FC236}">
                <a16:creationId xmlns:a16="http://schemas.microsoft.com/office/drawing/2014/main" id="{6619D5E1-088F-B472-8774-4A7B13660D34}"/>
              </a:ext>
            </a:extLst>
          </p:cNvPr>
          <p:cNvSpPr txBox="1"/>
          <p:nvPr/>
        </p:nvSpPr>
        <p:spPr>
          <a:xfrm>
            <a:off x="3914417" y="7185318"/>
            <a:ext cx="3588258" cy="78483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Supply Level reaches 0, minus 1 to all Defense Values for player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Attacks cost 1 Supply Point per Panzer Unit (divisions, Kampfgruppen, 101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Tiger Battalion all count)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3072964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8981</TotalTime>
  <Words>811</Words>
  <Application>Microsoft Office PowerPoint</Application>
  <PresentationFormat>Custom</PresentationFormat>
  <Paragraphs>94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Arial MT</vt:lpstr>
      <vt:lpstr>Calibri</vt:lpstr>
      <vt:lpstr>Vinque</vt:lpstr>
      <vt:lpstr>Wingdings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Mike Richardson</cp:lastModifiedBy>
  <cp:revision>48</cp:revision>
  <dcterms:created xsi:type="dcterms:W3CDTF">2026-02-15T09:03:45Z</dcterms:created>
  <dcterms:modified xsi:type="dcterms:W3CDTF">2026-04-21T17:57:03Z</dcterms:modified>
</cp:coreProperties>
</file>