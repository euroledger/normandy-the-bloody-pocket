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9" r:id="rId2"/>
    <p:sldId id="261" r:id="rId3"/>
  </p:sldIdLst>
  <p:sldSz cx="77724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49" autoAdjust="0"/>
    <p:restoredTop sz="88418" autoAdjust="0"/>
  </p:normalViewPr>
  <p:slideViewPr>
    <p:cSldViewPr>
      <p:cViewPr varScale="1">
        <p:scale>
          <a:sx n="86" d="100"/>
          <a:sy n="86" d="100"/>
        </p:scale>
        <p:origin x="772" y="40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66" d="100"/>
          <a:sy n="66" d="100"/>
        </p:scale>
        <p:origin x="2652" y="4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A95628-210E-4CE1-AAEA-43A3DE47F2BD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74925" y="1257300"/>
            <a:ext cx="262255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2CA95-F8EB-4FCA-97E8-B8E19E3A6B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585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2CA95-F8EB-4FCA-97E8-B8E19E3A6B8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108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2CA95-F8EB-4FCA-97E8-B8E19E3A6B8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4137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2930" y="3118104"/>
            <a:ext cx="6606540" cy="21122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65860" y="5632704"/>
            <a:ext cx="5440680" cy="2514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5/29/2026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5/29/2026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88620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002786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5/29/2026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5/29/2026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5/29/2026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8620" y="402336"/>
            <a:ext cx="6995160" cy="16093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8620" y="2313432"/>
            <a:ext cx="6995160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642616" y="9354312"/>
            <a:ext cx="2487168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88620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5/29/2026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96128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241DA3-3300-BB5F-8C38-700492E2E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13612C8-BD91-1210-C1B6-E5632A4A11F9}"/>
              </a:ext>
            </a:extLst>
          </p:cNvPr>
          <p:cNvSpPr txBox="1"/>
          <p:nvPr/>
        </p:nvSpPr>
        <p:spPr>
          <a:xfrm>
            <a:off x="2988245" y="766944"/>
            <a:ext cx="1612265" cy="347531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b="1" spc="-50" dirty="0">
                <a:latin typeface="Vinque" panose="020E0603000000020003" pitchFamily="34" charset="0"/>
                <a:cs typeface="Arial MT"/>
              </a:rPr>
              <a:t>PLAYER</a:t>
            </a:r>
            <a:r>
              <a:rPr b="1" spc="30" dirty="0">
                <a:latin typeface="Vinque" panose="020E0603000000020003" pitchFamily="34" charset="0"/>
                <a:cs typeface="Arial MT"/>
              </a:rPr>
              <a:t> </a:t>
            </a:r>
            <a:r>
              <a:rPr b="1" spc="-25" dirty="0">
                <a:latin typeface="Vinque" panose="020E0603000000020003" pitchFamily="34" charset="0"/>
                <a:cs typeface="Arial MT"/>
              </a:rPr>
              <a:t>AID</a:t>
            </a:r>
            <a:endParaRPr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2AAB1AF-EE01-B565-793B-20F41F6DC513}"/>
              </a:ext>
            </a:extLst>
          </p:cNvPr>
          <p:cNvSpPr txBox="1"/>
          <p:nvPr/>
        </p:nvSpPr>
        <p:spPr>
          <a:xfrm>
            <a:off x="408059" y="1182770"/>
            <a:ext cx="3265489" cy="866904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0"/>
              </a:spcBef>
            </a:pPr>
            <a:endParaRPr sz="1000" b="1" dirty="0">
              <a:latin typeface="Arial MT"/>
              <a:cs typeface="Arial MT"/>
            </a:endParaRPr>
          </a:p>
          <a:p>
            <a:pPr marL="152400" indent="-139700">
              <a:lnSpc>
                <a:spcPct val="100000"/>
              </a:lnSpc>
              <a:spcBef>
                <a:spcPts val="229"/>
              </a:spcBef>
              <a:buAutoNum type="arabicPeriod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Launch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b="1" dirty="0">
                <a:latin typeface="Arial MT"/>
                <a:cs typeface="Arial MT"/>
              </a:rPr>
              <a:t>Offensive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sz="10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sz="1000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See </a:t>
            </a:r>
            <a:r>
              <a:rPr lang="en-US" sz="900" i="1" dirty="0">
                <a:latin typeface="Arial MT"/>
                <a:cs typeface="Arial MT"/>
              </a:rPr>
              <a:t>Counter Attacks</a:t>
            </a:r>
            <a:endParaRPr lang="en-US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04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1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unsuccessful</a:t>
            </a:r>
            <a:endParaRPr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6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successful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089A5576-8934-26FA-E726-B9C6099B4A8D}"/>
              </a:ext>
            </a:extLst>
          </p:cNvPr>
          <p:cNvSpPr txBox="1"/>
          <p:nvPr/>
        </p:nvSpPr>
        <p:spPr>
          <a:xfrm>
            <a:off x="386097" y="2059596"/>
            <a:ext cx="3328931" cy="244073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52400" indent="-139700">
              <a:lnSpc>
                <a:spcPct val="100000"/>
              </a:lnSpc>
              <a:spcBef>
                <a:spcPts val="320"/>
              </a:spcBef>
              <a:buAutoNum type="arabicPeriod" startAt="2"/>
              <a:tabLst>
                <a:tab pos="152400" algn="l"/>
              </a:tabLst>
            </a:pPr>
            <a:r>
              <a:rPr lang="en-US" sz="1000" b="1" dirty="0">
                <a:latin typeface="Arial MT"/>
                <a:cs typeface="Arial"/>
              </a:rPr>
              <a:t>Deploy Reinforcements </a:t>
            </a:r>
            <a:endParaRPr sz="1000" b="1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Make Transport Check (Success is &lt;= Transport Level)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Successful – place in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  <a:endParaRPr sz="900" i="1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Unsuccessful – place in </a:t>
            </a:r>
            <a:r>
              <a:rPr lang="en-US" sz="900" i="1" dirty="0">
                <a:latin typeface="Arial MT"/>
                <a:cs typeface="Arial MT"/>
              </a:rPr>
              <a:t>In Transit Box</a:t>
            </a: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Units </a:t>
            </a:r>
            <a:r>
              <a:rPr lang="en-US" sz="900" i="1" dirty="0">
                <a:latin typeface="Arial MT"/>
                <a:cs typeface="Arial MT"/>
              </a:rPr>
              <a:t>in In Transit Box </a:t>
            </a:r>
            <a:r>
              <a:rPr lang="en-US" sz="900" dirty="0">
                <a:latin typeface="Arial MT"/>
                <a:cs typeface="Arial MT"/>
              </a:rPr>
              <a:t>make 1 Transport Check per turn (free); successful roll: move to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To deploy from Strategic Reserve Box to map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) </a:t>
            </a:r>
            <a:r>
              <a:rPr lang="en-US" sz="900" dirty="0">
                <a:latin typeface="Arial MT"/>
                <a:cs typeface="Arial MT"/>
              </a:rPr>
              <a:t>must pass Hitler Check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</a:t>
            </a:r>
            <a:endParaRPr lang="en-GB" sz="900" spc="95" dirty="0">
              <a:latin typeface="Arial MT"/>
              <a:cs typeface="Arial MT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Kampfgruppen/Nebel/Flak move directly to map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US" sz="900" dirty="0">
                <a:latin typeface="Arial MT"/>
                <a:cs typeface="Arial MT"/>
              </a:rPr>
              <a:t>or to Strategic Reserve Box (no cost)</a:t>
            </a: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Deploy Kampfgruppen/Nebel/Flak from the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  <a:r>
              <a:rPr lang="en-US" sz="900" dirty="0">
                <a:latin typeface="Arial MT"/>
                <a:cs typeface="Arial MT"/>
              </a:rPr>
              <a:t> to map (no cost)</a:t>
            </a: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endParaRPr lang="en-GB" sz="9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240665" marR="5080" lvl="1">
              <a:lnSpc>
                <a:spcPct val="120000"/>
              </a:lnSpc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	</a:t>
            </a:r>
            <a:r>
              <a:rPr lang="en-US" sz="900" dirty="0">
                <a:latin typeface="Arial MT"/>
                <a:cs typeface="Arial MT"/>
              </a:rPr>
              <a:t> </a:t>
            </a:r>
            <a:endParaRPr lang="en-GB" sz="9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D80BC3E-339F-0CC3-71E4-4794F85F8D96}"/>
              </a:ext>
            </a:extLst>
          </p:cNvPr>
          <p:cNvSpPr txBox="1"/>
          <p:nvPr/>
        </p:nvSpPr>
        <p:spPr>
          <a:xfrm>
            <a:off x="422744" y="4005750"/>
            <a:ext cx="3290953" cy="1687898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60325" indent="139700">
              <a:lnSpc>
                <a:spcPct val="117900"/>
              </a:lnSpc>
              <a:spcBef>
                <a:spcPts val="90"/>
              </a:spcBef>
              <a:buAutoNum type="arabicPeriod" startAt="3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Re</a:t>
            </a:r>
            <a:r>
              <a:rPr lang="en-US" sz="1000" b="1" dirty="0">
                <a:latin typeface="Arial MT"/>
                <a:cs typeface="Arial MT"/>
              </a:rPr>
              <a:t>deploy Panzer Unit to Strategic Reserve Box/Other Units Move 1 space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Move Pz Unit to SR Box: Must pass Transport Check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May not move/redeploy in to/out of Siege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Units in Strategic Reserve can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	- </a:t>
            </a:r>
            <a:r>
              <a:rPr lang="en-US" sz="900" dirty="0">
                <a:latin typeface="Arial MT"/>
                <a:cs typeface="Arial MT"/>
              </a:rPr>
              <a:t>Remain</a:t>
            </a:r>
            <a:endParaRPr lang="en-GB" sz="900" spc="165" dirty="0">
              <a:latin typeface="Arial MT"/>
              <a:cs typeface="Arial MT"/>
            </a:endParaRP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  	- </a:t>
            </a:r>
            <a:r>
              <a:rPr lang="en-US" sz="900" dirty="0">
                <a:latin typeface="Arial MT"/>
                <a:cs typeface="Arial MT"/>
              </a:rPr>
              <a:t>Refit</a:t>
            </a:r>
            <a:r>
              <a:rPr lang="en-GB" sz="900" spc="165" dirty="0">
                <a:latin typeface="Arial MT"/>
                <a:cs typeface="Arial MT"/>
              </a:rPr>
              <a:t> (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      -  </a:t>
            </a:r>
            <a:r>
              <a:rPr lang="en-US" sz="900" dirty="0">
                <a:latin typeface="Arial MT"/>
                <a:cs typeface="Arial MT"/>
              </a:rPr>
              <a:t>Deploy to map</a:t>
            </a:r>
            <a:r>
              <a:rPr lang="en-GB" sz="900" spc="165" dirty="0">
                <a:latin typeface="Arial MT"/>
                <a:cs typeface="Arial MT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	</a:t>
            </a:r>
            <a:r>
              <a:rPr lang="en-GB" sz="900" i="1" spc="-10" dirty="0">
                <a:solidFill>
                  <a:schemeClr val="tx1"/>
                </a:solidFill>
                <a:latin typeface="Arial MT"/>
                <a:cs typeface="Arial"/>
              </a:rPr>
              <a:t>(requires Hitler roll)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endParaRPr lang="en-GB" sz="900" spc="165" dirty="0">
              <a:latin typeface="Arial MT"/>
              <a:cs typeface="Arial M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5FD24B1D-D35A-50A9-AD7B-63B5DDAA0239}"/>
              </a:ext>
            </a:extLst>
          </p:cNvPr>
          <p:cNvSpPr txBox="1"/>
          <p:nvPr/>
        </p:nvSpPr>
        <p:spPr>
          <a:xfrm>
            <a:off x="422744" y="5528252"/>
            <a:ext cx="3236121" cy="84895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4. </a:t>
            </a:r>
            <a:r>
              <a:rPr lang="en-US" sz="1000" b="1" dirty="0">
                <a:latin typeface="Arial MT"/>
                <a:cs typeface="Arial MT"/>
              </a:rPr>
              <a:t>Refit Reduced Panzer Unit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Must be in </a:t>
            </a:r>
            <a:r>
              <a:rPr lang="en-US" sz="900" i="1" dirty="0">
                <a:latin typeface="Arial MT"/>
                <a:cs typeface="Arial"/>
              </a:rPr>
              <a:t>Strategic Reserve Box</a:t>
            </a:r>
            <a:endParaRPr sz="900" i="1" dirty="0">
              <a:latin typeface="Arial MT"/>
              <a:cs typeface="Arial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Cannot refit </a:t>
            </a:r>
            <a:r>
              <a:rPr lang="en-US" sz="900" i="1" dirty="0">
                <a:latin typeface="Arial MT"/>
                <a:cs typeface="Arial MT"/>
              </a:rPr>
              <a:t>Kampfgruppen </a:t>
            </a:r>
            <a:r>
              <a:rPr lang="en-US" sz="900" dirty="0">
                <a:latin typeface="Arial MT"/>
                <a:cs typeface="Arial MT"/>
              </a:rPr>
              <a:t>or rebuild eliminated units</a:t>
            </a:r>
            <a:endParaRPr lang="en-US" sz="900" i="1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Reduced Panzer Units are flipped to Full Strength (+1 to +2)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709409CF-43CD-56E9-16E9-DC5FA40D807A}"/>
              </a:ext>
            </a:extLst>
          </p:cNvPr>
          <p:cNvSpPr txBox="1"/>
          <p:nvPr/>
        </p:nvSpPr>
        <p:spPr>
          <a:xfrm>
            <a:off x="4001654" y="1235853"/>
            <a:ext cx="2009775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COUNTER ATTACKS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87D53F4F-6059-5631-1D60-72D9D83A0F10}"/>
              </a:ext>
            </a:extLst>
          </p:cNvPr>
          <p:cNvSpPr txBox="1"/>
          <p:nvPr/>
        </p:nvSpPr>
        <p:spPr>
          <a:xfrm>
            <a:off x="4094365" y="1364258"/>
            <a:ext cx="3588258" cy="1949252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Defense Strength is Terrain Value + Defense Modifiers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Attack Strength is Attack Modifiers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Roll + Attack Strength &gt; Defense Strength – advance ALL units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Cost 1 supply point if Panzer Units/Kampgruppen involved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any Pz Units/Kampgruppen -&gt; victory is +1 to Hitler Approval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Defeat – 1 </a:t>
            </a:r>
            <a:r>
              <a:rPr lang="en-US" sz="900" dirty="0" err="1">
                <a:latin typeface="Arial MT"/>
                <a:cs typeface="Arial MT"/>
              </a:rPr>
              <a:t>elim</a:t>
            </a:r>
            <a:r>
              <a:rPr lang="en-US" sz="900" dirty="0">
                <a:latin typeface="Arial MT"/>
                <a:cs typeface="Arial MT"/>
              </a:rPr>
              <a:t>: take loss from Pz unit or Nebelwerfer</a:t>
            </a: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unmodified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roll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of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1</a:t>
            </a:r>
            <a:r>
              <a:rPr lang="en-US" sz="900" spc="5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is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10" dirty="0">
                <a:latin typeface="Arial MT"/>
                <a:cs typeface="Arial MT"/>
              </a:rPr>
              <a:t>always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-10" dirty="0">
                <a:latin typeface="Arial MT"/>
                <a:cs typeface="Arial MT"/>
              </a:rPr>
              <a:t>unsuccessful / 6 successful</a:t>
            </a: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Cannot counter-attack beaches after turn 2 or Fortresses ever</a:t>
            </a:r>
            <a:endParaRPr lang="en-US" sz="900" dirty="0">
              <a:latin typeface="Arial MT"/>
              <a:cs typeface="Arial MT"/>
            </a:endParaRP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7937B94-3B38-9D04-ADB9-B5F08CF0556B}"/>
              </a:ext>
            </a:extLst>
          </p:cNvPr>
          <p:cNvSpPr txBox="1"/>
          <p:nvPr/>
        </p:nvSpPr>
        <p:spPr>
          <a:xfrm>
            <a:off x="3855585" y="4130689"/>
            <a:ext cx="3588258" cy="646331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Defense Value is &gt;= 6 more than Attack Value in Fortress – Declare Siege. 1d6 Siege Table when army listed to attack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Cannot move units into or out of besieged space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Place Siege marker on space 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1AE31069-78C2-8B2E-177B-3E11C457FA85}"/>
              </a:ext>
            </a:extLst>
          </p:cNvPr>
          <p:cNvSpPr/>
          <p:nvPr/>
        </p:nvSpPr>
        <p:spPr>
          <a:xfrm flipH="1">
            <a:off x="3766641" y="1193494"/>
            <a:ext cx="18288" cy="8583721"/>
          </a:xfrm>
          <a:custGeom>
            <a:avLst/>
            <a:gdLst/>
            <a:ahLst/>
            <a:cxnLst/>
            <a:rect l="l" t="t" r="r" b="b"/>
            <a:pathLst>
              <a:path w="18414" h="7632700">
                <a:moveTo>
                  <a:pt x="18287" y="0"/>
                </a:moveTo>
                <a:lnTo>
                  <a:pt x="0" y="0"/>
                </a:lnTo>
                <a:lnTo>
                  <a:pt x="0" y="7632191"/>
                </a:lnTo>
                <a:lnTo>
                  <a:pt x="18287" y="7632191"/>
                </a:lnTo>
                <a:lnTo>
                  <a:pt x="182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>
              <a:latin typeface="Arial MT"/>
            </a:endParaRPr>
          </a:p>
        </p:txBody>
      </p:sp>
      <p:sp>
        <p:nvSpPr>
          <p:cNvPr id="24" name="object 9">
            <a:extLst>
              <a:ext uri="{FF2B5EF4-FFF2-40B4-BE49-F238E27FC236}">
                <a16:creationId xmlns:a16="http://schemas.microsoft.com/office/drawing/2014/main" id="{41838AA3-2C5F-B16C-6FE3-17442F3AC370}"/>
              </a:ext>
            </a:extLst>
          </p:cNvPr>
          <p:cNvSpPr txBox="1"/>
          <p:nvPr/>
        </p:nvSpPr>
        <p:spPr>
          <a:xfrm>
            <a:off x="293898" y="1224170"/>
            <a:ext cx="1791335" cy="16350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ACTIONS</a:t>
            </a:r>
            <a:endParaRPr sz="950" b="1" dirty="0">
              <a:latin typeface="Vinque" panose="020E0603000000020003" pitchFamily="34" charset="0"/>
              <a:cs typeface="Arial MT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08F5805-45D5-6338-CD48-D774167229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964" y="66646"/>
            <a:ext cx="1710176" cy="754678"/>
          </a:xfrm>
          <a:prstGeom prst="rect">
            <a:avLst/>
          </a:prstGeom>
        </p:spPr>
      </p:pic>
      <p:sp>
        <p:nvSpPr>
          <p:cNvPr id="6" name="object 7">
            <a:extLst>
              <a:ext uri="{FF2B5EF4-FFF2-40B4-BE49-F238E27FC236}">
                <a16:creationId xmlns:a16="http://schemas.microsoft.com/office/drawing/2014/main" id="{9026D135-B64A-4B10-CECA-5F17FABD84ED}"/>
              </a:ext>
            </a:extLst>
          </p:cNvPr>
          <p:cNvSpPr txBox="1"/>
          <p:nvPr/>
        </p:nvSpPr>
        <p:spPr>
          <a:xfrm>
            <a:off x="442306" y="6275994"/>
            <a:ext cx="3236121" cy="81560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5. </a:t>
            </a:r>
            <a:r>
              <a:rPr lang="en-GB" sz="1000" b="1" dirty="0">
                <a:latin typeface="Arial MT"/>
              </a:rPr>
              <a:t>Attempt to Increate a Resource Level on the Resource tracks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 per track)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Roll &gt;  Base Value to increase resource level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All DRMs on cards are for Resource Checks </a:t>
            </a:r>
            <a:r>
              <a:rPr lang="en-US" sz="900" b="1" i="1" dirty="0">
                <a:latin typeface="Arial MT"/>
                <a:cs typeface="Arial"/>
              </a:rPr>
              <a:t>NOT  </a:t>
            </a:r>
            <a:r>
              <a:rPr lang="en-US" sz="900" dirty="0">
                <a:latin typeface="Arial MT"/>
                <a:cs typeface="Arial"/>
              </a:rPr>
              <a:t>Resource Rolls except weather +1 DRM</a:t>
            </a:r>
            <a:endParaRPr lang="en-US" sz="900" b="1" dirty="0">
              <a:latin typeface="Arial MT"/>
              <a:cs typeface="Arial"/>
            </a:endParaRPr>
          </a:p>
        </p:txBody>
      </p:sp>
      <p:sp>
        <p:nvSpPr>
          <p:cNvPr id="21" name="object 7">
            <a:extLst>
              <a:ext uri="{FF2B5EF4-FFF2-40B4-BE49-F238E27FC236}">
                <a16:creationId xmlns:a16="http://schemas.microsoft.com/office/drawing/2014/main" id="{0CE0B140-F03B-FCDE-A00A-77DE1D0ECE2D}"/>
              </a:ext>
            </a:extLst>
          </p:cNvPr>
          <p:cNvSpPr txBox="1"/>
          <p:nvPr/>
        </p:nvSpPr>
        <p:spPr>
          <a:xfrm>
            <a:off x="422187" y="7104008"/>
            <a:ext cx="3236121" cy="85151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6. </a:t>
            </a:r>
            <a:r>
              <a:rPr lang="en-GB" sz="1000" b="1" dirty="0">
                <a:latin typeface="Arial MT"/>
              </a:rPr>
              <a:t>Build Fortified Villages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3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actions per level)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Place “Fortified Villages” +1 or upgrade to +2 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Defense Value +1 or +2 until captured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Siege Rules do not apply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 err="1">
                <a:latin typeface="Arial MT"/>
                <a:cs typeface="Arial"/>
              </a:rPr>
              <a:t>Olace</a:t>
            </a:r>
            <a:r>
              <a:rPr lang="en-US" sz="900" dirty="0">
                <a:latin typeface="Arial MT"/>
                <a:cs typeface="Arial"/>
              </a:rPr>
              <a:t> on any German held space except Falaise Gap</a:t>
            </a:r>
          </a:p>
        </p:txBody>
      </p:sp>
      <p:sp>
        <p:nvSpPr>
          <p:cNvPr id="22" name="object 7">
            <a:extLst>
              <a:ext uri="{FF2B5EF4-FFF2-40B4-BE49-F238E27FC236}">
                <a16:creationId xmlns:a16="http://schemas.microsoft.com/office/drawing/2014/main" id="{5116F798-11E7-DE05-8FE6-265193E15B2B}"/>
              </a:ext>
            </a:extLst>
          </p:cNvPr>
          <p:cNvSpPr txBox="1"/>
          <p:nvPr/>
        </p:nvSpPr>
        <p:spPr>
          <a:xfrm>
            <a:off x="422187" y="7935325"/>
            <a:ext cx="3236121" cy="52322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7. </a:t>
            </a:r>
            <a:r>
              <a:rPr lang="en-GB" sz="1000" b="1" dirty="0">
                <a:latin typeface="Arial MT"/>
              </a:rPr>
              <a:t>Put Action(s) to Strat Res Box  </a:t>
            </a:r>
            <a:r>
              <a:rPr lang="en-GB" sz="1000" spc="165" dirty="0">
                <a:latin typeface="Arial MT"/>
                <a:cs typeface="Arial MT"/>
              </a:rPr>
              <a:t>(</a:t>
            </a:r>
            <a:r>
              <a:rPr lang="en-GB" sz="10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10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Max. 2 Actions in Reserve Box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Can be used in future turns</a:t>
            </a:r>
          </a:p>
        </p:txBody>
      </p:sp>
      <p:sp>
        <p:nvSpPr>
          <p:cNvPr id="26" name="object 13">
            <a:extLst>
              <a:ext uri="{FF2B5EF4-FFF2-40B4-BE49-F238E27FC236}">
                <a16:creationId xmlns:a16="http://schemas.microsoft.com/office/drawing/2014/main" id="{46D978AF-707E-430E-E7C9-ABF6A016F11E}"/>
              </a:ext>
            </a:extLst>
          </p:cNvPr>
          <p:cNvSpPr txBox="1"/>
          <p:nvPr/>
        </p:nvSpPr>
        <p:spPr>
          <a:xfrm>
            <a:off x="3959367" y="2752669"/>
            <a:ext cx="3588258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RESOURCE ROLLS / CHECKS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7" name="object 15">
            <a:extLst>
              <a:ext uri="{FF2B5EF4-FFF2-40B4-BE49-F238E27FC236}">
                <a16:creationId xmlns:a16="http://schemas.microsoft.com/office/drawing/2014/main" id="{8F53DA48-B9DB-22AB-5C23-E655AFF9B5C3}"/>
              </a:ext>
            </a:extLst>
          </p:cNvPr>
          <p:cNvSpPr txBox="1"/>
          <p:nvPr/>
        </p:nvSpPr>
        <p:spPr>
          <a:xfrm>
            <a:off x="3857946" y="2906264"/>
            <a:ext cx="3588258" cy="974626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To increase resource pay 1 action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roll &gt; Base Value on counter increase by 1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For resource checks must roll &lt;= current value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+1 DRM on Transport and Supply if weather is overcast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Resource Check on Supply points, these are just spent on attacks</a:t>
            </a:r>
          </a:p>
        </p:txBody>
      </p:sp>
      <p:sp>
        <p:nvSpPr>
          <p:cNvPr id="28" name="object 13">
            <a:extLst>
              <a:ext uri="{FF2B5EF4-FFF2-40B4-BE49-F238E27FC236}">
                <a16:creationId xmlns:a16="http://schemas.microsoft.com/office/drawing/2014/main" id="{742CCE1D-25CD-9364-2CF3-B83FCFA160AA}"/>
              </a:ext>
            </a:extLst>
          </p:cNvPr>
          <p:cNvSpPr txBox="1"/>
          <p:nvPr/>
        </p:nvSpPr>
        <p:spPr>
          <a:xfrm>
            <a:off x="4040796" y="4764419"/>
            <a:ext cx="320245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ALLIED ARMY MOVEMENT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9" name="object 15">
            <a:extLst>
              <a:ext uri="{FF2B5EF4-FFF2-40B4-BE49-F238E27FC236}">
                <a16:creationId xmlns:a16="http://schemas.microsoft.com/office/drawing/2014/main" id="{A46957B7-894F-0F31-594D-155CF94D44D8}"/>
              </a:ext>
            </a:extLst>
          </p:cNvPr>
          <p:cNvSpPr txBox="1"/>
          <p:nvPr/>
        </p:nvSpPr>
        <p:spPr>
          <a:xfrm>
            <a:off x="3855585" y="4941689"/>
            <a:ext cx="3647946" cy="113877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US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activates when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advances to Avranches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Defense Value = terrain +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 Value =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die roll + Attack Value &gt; Defense Value – advance army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&lt;= defense, not in fortress, 1 loss (no advance)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&gt; than defense, defender takes 1 loss (advance) and if pz unit present</a:t>
            </a:r>
          </a:p>
        </p:txBody>
      </p:sp>
      <p:sp>
        <p:nvSpPr>
          <p:cNvPr id="30" name="object 13">
            <a:extLst>
              <a:ext uri="{FF2B5EF4-FFF2-40B4-BE49-F238E27FC236}">
                <a16:creationId xmlns:a16="http://schemas.microsoft.com/office/drawing/2014/main" id="{A18D44D4-753E-9CBE-F19C-16E22F0EF067}"/>
              </a:ext>
            </a:extLst>
          </p:cNvPr>
          <p:cNvSpPr txBox="1"/>
          <p:nvPr/>
        </p:nvSpPr>
        <p:spPr>
          <a:xfrm>
            <a:off x="4067576" y="6096081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US 3</a:t>
            </a:r>
            <a:r>
              <a:rPr lang="en-US" sz="1000" b="1" spc="75" baseline="30000" dirty="0">
                <a:latin typeface="Vinque" panose="020E0603000000020003" pitchFamily="34" charset="0"/>
                <a:cs typeface="Arial MT"/>
              </a:rPr>
              <a:t>rd</a:t>
            </a: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 ARMY BREAKDOWN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1" name="object 15">
            <a:extLst>
              <a:ext uri="{FF2B5EF4-FFF2-40B4-BE49-F238E27FC236}">
                <a16:creationId xmlns:a16="http://schemas.microsoft.com/office/drawing/2014/main" id="{96C65BCF-B118-25C2-E53C-21FAB7BBC29E}"/>
              </a:ext>
            </a:extLst>
          </p:cNvPr>
          <p:cNvSpPr txBox="1"/>
          <p:nvPr/>
        </p:nvSpPr>
        <p:spPr>
          <a:xfrm>
            <a:off x="3873143" y="6269127"/>
            <a:ext cx="3588258" cy="671979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When US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reaches </a:t>
            </a:r>
            <a:r>
              <a:rPr lang="en-US" sz="900" dirty="0" err="1">
                <a:latin typeface="Arial MT"/>
                <a:cs typeface="Arial MT"/>
              </a:rPr>
              <a:t>Avracnhes</a:t>
            </a:r>
            <a:r>
              <a:rPr lang="en-US" sz="900" dirty="0">
                <a:latin typeface="Arial MT"/>
                <a:cs typeface="Arial MT"/>
              </a:rPr>
              <a:t>,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activated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VIII Corps advances into St Malo (then into Britanny)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XV Corps advances to Rennes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Recombine if VIII Corps “catches up”</a:t>
            </a:r>
          </a:p>
        </p:txBody>
      </p:sp>
      <p:sp>
        <p:nvSpPr>
          <p:cNvPr id="32" name="object 10">
            <a:extLst>
              <a:ext uri="{FF2B5EF4-FFF2-40B4-BE49-F238E27FC236}">
                <a16:creationId xmlns:a16="http://schemas.microsoft.com/office/drawing/2014/main" id="{7F36106E-F967-6973-82F1-48CD85F747A6}"/>
              </a:ext>
            </a:extLst>
          </p:cNvPr>
          <p:cNvSpPr txBox="1"/>
          <p:nvPr/>
        </p:nvSpPr>
        <p:spPr>
          <a:xfrm>
            <a:off x="408059" y="8992360"/>
            <a:ext cx="2771775" cy="100489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"/>
                <a:cs typeface="Arial"/>
              </a:rPr>
              <a:t>Cards #1 and #2 always first two cards</a:t>
            </a:r>
            <a:endParaRPr sz="900" dirty="0">
              <a:latin typeface="Arial"/>
              <a:cs typeface="Arial"/>
            </a:endParaRPr>
          </a:p>
          <a:p>
            <a:pPr marL="2406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10" dirty="0">
                <a:latin typeface="Arial MT"/>
                <a:cs typeface="Arial MT"/>
              </a:rPr>
              <a:t>Roll 1d6: Brit/Can armies succeed if roll &gt; 1</a:t>
            </a:r>
            <a:endParaRPr sz="900" dirty="0">
              <a:latin typeface="Arial MT"/>
              <a:cs typeface="Arial MT"/>
            </a:endParaRPr>
          </a:p>
          <a:p>
            <a:pPr marL="241300" marR="113030" indent="-228600">
              <a:lnSpc>
                <a:spcPct val="120000"/>
              </a:lnSpc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US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succeed if roll &gt; 2</a:t>
            </a:r>
            <a:endParaRPr sz="900" dirty="0">
              <a:latin typeface="Arial MT"/>
              <a:cs typeface="Arial MT"/>
            </a:endParaRPr>
          </a:p>
          <a:p>
            <a:pPr marL="241300" marR="234950" indent="-228600">
              <a:lnSpc>
                <a:spcPts val="1370"/>
              </a:lnSpc>
              <a:spcBef>
                <a:spcPts val="55"/>
              </a:spcBef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If success put army into its beach box</a:t>
            </a:r>
            <a:endParaRPr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fail, leave in start box</a:t>
            </a: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Always succeed on turn 2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33" name="object 9">
            <a:extLst>
              <a:ext uri="{FF2B5EF4-FFF2-40B4-BE49-F238E27FC236}">
                <a16:creationId xmlns:a16="http://schemas.microsoft.com/office/drawing/2014/main" id="{442EC1AE-A3DF-4FC8-62E4-FA7797D6C399}"/>
              </a:ext>
            </a:extLst>
          </p:cNvPr>
          <p:cNvSpPr txBox="1"/>
          <p:nvPr/>
        </p:nvSpPr>
        <p:spPr>
          <a:xfrm>
            <a:off x="221686" y="8821159"/>
            <a:ext cx="1791335" cy="17120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D-DAY LANDINGS</a:t>
            </a:r>
            <a:endParaRPr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4" name="object 13">
            <a:extLst>
              <a:ext uri="{FF2B5EF4-FFF2-40B4-BE49-F238E27FC236}">
                <a16:creationId xmlns:a16="http://schemas.microsoft.com/office/drawing/2014/main" id="{17D04F03-F76D-E9C2-FDF9-E30156881640}"/>
              </a:ext>
            </a:extLst>
          </p:cNvPr>
          <p:cNvSpPr txBox="1"/>
          <p:nvPr/>
        </p:nvSpPr>
        <p:spPr>
          <a:xfrm>
            <a:off x="4001654" y="4014008"/>
            <a:ext cx="2009775" cy="16286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SIEGES</a:t>
            </a:r>
            <a:endParaRPr lang="en-US" sz="95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5" name="object 13">
            <a:extLst>
              <a:ext uri="{FF2B5EF4-FFF2-40B4-BE49-F238E27FC236}">
                <a16:creationId xmlns:a16="http://schemas.microsoft.com/office/drawing/2014/main" id="{68C763C1-954E-A0B3-2DBB-2E8FAE1385B9}"/>
              </a:ext>
            </a:extLst>
          </p:cNvPr>
          <p:cNvSpPr txBox="1"/>
          <p:nvPr/>
        </p:nvSpPr>
        <p:spPr>
          <a:xfrm>
            <a:off x="4081255" y="7595933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HITLER APPROVAL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6" name="object 15">
            <a:extLst>
              <a:ext uri="{FF2B5EF4-FFF2-40B4-BE49-F238E27FC236}">
                <a16:creationId xmlns:a16="http://schemas.microsoft.com/office/drawing/2014/main" id="{16AB8EBF-35D4-CD65-7F46-3C1067E1D7FC}"/>
              </a:ext>
            </a:extLst>
          </p:cNvPr>
          <p:cNvSpPr txBox="1"/>
          <p:nvPr/>
        </p:nvSpPr>
        <p:spPr>
          <a:xfrm>
            <a:off x="3922923" y="7581825"/>
            <a:ext cx="3825698" cy="160556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1300">
              <a:spcBef>
                <a:spcPts val="229"/>
              </a:spcBef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US" sz="900" dirty="0">
                <a:latin typeface="Arial MT"/>
              </a:rPr>
              <a:t>Redeploy</a:t>
            </a:r>
            <a:r>
              <a:rPr lang="en-GB" sz="900" dirty="0">
                <a:latin typeface="Arial MT"/>
              </a:rPr>
              <a:t> a panzer unit from map to Strategic Reserve box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>
                <a:latin typeface="Arial MT"/>
              </a:rPr>
              <a:t>Deploy Panzer Unit from In Transit or Strategic Reserve to map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/>
              <a:t>Avoid having to carry out “Hitler Interventions” as defined by several Event Cards</a:t>
            </a:r>
            <a:endParaRPr lang="en-US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“Hitler Intervention” cards: the player must fail the check for the intervention to go ahead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-1 for loss of S Caen, -2 Brest, Lorient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-1 for defeat on defense when Panzer units present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7" name="object 13">
            <a:extLst>
              <a:ext uri="{FF2B5EF4-FFF2-40B4-BE49-F238E27FC236}">
                <a16:creationId xmlns:a16="http://schemas.microsoft.com/office/drawing/2014/main" id="{4944539A-3501-AB83-5ED3-F578372FCF29}"/>
              </a:ext>
            </a:extLst>
          </p:cNvPr>
          <p:cNvSpPr txBox="1"/>
          <p:nvPr/>
        </p:nvSpPr>
        <p:spPr>
          <a:xfrm>
            <a:off x="4067576" y="9087554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VICTORY/DEFEAT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8" name="object 15">
            <a:extLst>
              <a:ext uri="{FF2B5EF4-FFF2-40B4-BE49-F238E27FC236}">
                <a16:creationId xmlns:a16="http://schemas.microsoft.com/office/drawing/2014/main" id="{47A3FBC7-152B-A7B7-8D87-C6831CD1CBD7}"/>
              </a:ext>
            </a:extLst>
          </p:cNvPr>
          <p:cNvSpPr txBox="1"/>
          <p:nvPr/>
        </p:nvSpPr>
        <p:spPr>
          <a:xfrm>
            <a:off x="3959367" y="9320281"/>
            <a:ext cx="3588258" cy="507831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Any Allied Army reaches space 0 (Falaise Gap)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Hitler Approval reaches -2 -&gt;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No cards left and Falaise Gap German controlled -&gt; WIN</a:t>
            </a: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9" name="object 13">
            <a:extLst>
              <a:ext uri="{FF2B5EF4-FFF2-40B4-BE49-F238E27FC236}">
                <a16:creationId xmlns:a16="http://schemas.microsoft.com/office/drawing/2014/main" id="{1E196108-87EB-6924-2F1D-A892481F2C22}"/>
              </a:ext>
            </a:extLst>
          </p:cNvPr>
          <p:cNvSpPr txBox="1"/>
          <p:nvPr/>
        </p:nvSpPr>
        <p:spPr>
          <a:xfrm>
            <a:off x="4067576" y="6970707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SUPPLIES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40" name="object 15">
            <a:extLst>
              <a:ext uri="{FF2B5EF4-FFF2-40B4-BE49-F238E27FC236}">
                <a16:creationId xmlns:a16="http://schemas.microsoft.com/office/drawing/2014/main" id="{6619D5E1-088F-B472-8774-4A7B13660D34}"/>
              </a:ext>
            </a:extLst>
          </p:cNvPr>
          <p:cNvSpPr txBox="1"/>
          <p:nvPr/>
        </p:nvSpPr>
        <p:spPr>
          <a:xfrm>
            <a:off x="3859494" y="7182328"/>
            <a:ext cx="3588258" cy="48218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Attacks cost 1 Supply Point if Panzer Units present (divisions, Kampfgruppen, 101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Tiger Battalion all count)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8" name="object 7">
            <a:extLst>
              <a:ext uri="{FF2B5EF4-FFF2-40B4-BE49-F238E27FC236}">
                <a16:creationId xmlns:a16="http://schemas.microsoft.com/office/drawing/2014/main" id="{1E766F8F-366D-FCA5-EB19-5F083EC697E2}"/>
              </a:ext>
            </a:extLst>
          </p:cNvPr>
          <p:cNvSpPr txBox="1"/>
          <p:nvPr/>
        </p:nvSpPr>
        <p:spPr>
          <a:xfrm>
            <a:off x="437427" y="8437770"/>
            <a:ext cx="3236121" cy="52322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8. </a:t>
            </a:r>
            <a:r>
              <a:rPr lang="en-GB" sz="1000" b="1" spc="75" dirty="0">
                <a:latin typeface="Arial MT"/>
                <a:cs typeface="Arial MT"/>
              </a:rPr>
              <a:t>Move Unit One Space</a:t>
            </a:r>
            <a:r>
              <a:rPr lang="en-GB" sz="1000" b="1" dirty="0">
                <a:latin typeface="Arial MT"/>
              </a:rPr>
              <a:t> </a:t>
            </a:r>
            <a:r>
              <a:rPr lang="en-GB" sz="1000" spc="165" dirty="0">
                <a:latin typeface="Arial MT"/>
                <a:cs typeface="Arial MT"/>
              </a:rPr>
              <a:t>(</a:t>
            </a:r>
            <a:r>
              <a:rPr lang="en-GB" sz="10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10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Any unit can move forwards or backwards 1 space</a:t>
            </a:r>
          </a:p>
          <a:p>
            <a:pPr marL="241300">
              <a:lnSpc>
                <a:spcPct val="100000"/>
              </a:lnSpc>
              <a:spcBef>
                <a:spcPts val="200"/>
              </a:spcBef>
              <a:tabLst>
                <a:tab pos="469265" algn="l"/>
              </a:tabLst>
            </a:pPr>
            <a:endParaRPr lang="en-US" sz="900" dirty="0">
              <a:latin typeface="Arial MT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72964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52C52-76E2-7C46-A4D0-B78F6CB2E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C9A9E376-9393-391B-093F-2007D2B73CC4}"/>
              </a:ext>
            </a:extLst>
          </p:cNvPr>
          <p:cNvSpPr txBox="1"/>
          <p:nvPr/>
        </p:nvSpPr>
        <p:spPr>
          <a:xfrm>
            <a:off x="2988245" y="766944"/>
            <a:ext cx="1612265" cy="347531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b="1" spc="-50" dirty="0">
                <a:latin typeface="Vinque" panose="020E0603000000020003" pitchFamily="34" charset="0"/>
                <a:cs typeface="Arial MT"/>
              </a:rPr>
              <a:t>PLAYER</a:t>
            </a:r>
            <a:r>
              <a:rPr b="1" spc="30" dirty="0">
                <a:latin typeface="Vinque" panose="020E0603000000020003" pitchFamily="34" charset="0"/>
                <a:cs typeface="Arial MT"/>
              </a:rPr>
              <a:t> </a:t>
            </a:r>
            <a:r>
              <a:rPr b="1" spc="-25" dirty="0">
                <a:latin typeface="Vinque" panose="020E0603000000020003" pitchFamily="34" charset="0"/>
                <a:cs typeface="Arial MT"/>
              </a:rPr>
              <a:t>AID</a:t>
            </a:r>
            <a:endParaRPr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00E13AB9-F3F6-D116-E9B0-B1722A91352B}"/>
              </a:ext>
            </a:extLst>
          </p:cNvPr>
          <p:cNvSpPr/>
          <p:nvPr/>
        </p:nvSpPr>
        <p:spPr>
          <a:xfrm flipH="1">
            <a:off x="3766640" y="1114475"/>
            <a:ext cx="18288" cy="8583721"/>
          </a:xfrm>
          <a:custGeom>
            <a:avLst/>
            <a:gdLst/>
            <a:ahLst/>
            <a:cxnLst/>
            <a:rect l="l" t="t" r="r" b="b"/>
            <a:pathLst>
              <a:path w="18414" h="7632700">
                <a:moveTo>
                  <a:pt x="18287" y="0"/>
                </a:moveTo>
                <a:lnTo>
                  <a:pt x="0" y="0"/>
                </a:lnTo>
                <a:lnTo>
                  <a:pt x="0" y="7632191"/>
                </a:lnTo>
                <a:lnTo>
                  <a:pt x="18287" y="7632191"/>
                </a:lnTo>
                <a:lnTo>
                  <a:pt x="182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>
              <a:latin typeface="Arial MT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F3E9A79-6488-CF83-E610-CF9EB04526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964" y="66646"/>
            <a:ext cx="1710176" cy="7546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64614C-0391-00F3-5A49-4A9F61E9164D}"/>
                  </a:ext>
                </a:extLst>
              </p:cNvPr>
              <p:cNvSpPr txBox="1"/>
              <p:nvPr/>
            </p:nvSpPr>
            <p:spPr>
              <a:xfrm>
                <a:off x="265176" y="635987"/>
                <a:ext cx="3410547" cy="81006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>
                  <a:buNone/>
                </a:pPr>
                <a:endParaRPr lang="en-GB" sz="3200" b="0" i="0" kern="0" dirty="0">
                  <a:solidFill>
                    <a:srgbClr val="4F6228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ARMY ADVANCES</a:t>
                </a:r>
                <a:endParaRPr lang="en-US" sz="9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ATTACK STRENGTH</a:t>
                </a: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Sum of all Attack Strength modifiers + d6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DEFENSE STRENGTH</a:t>
                </a: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Terrain Value + Combat Modifiers from Units present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 ALLIED ATTACK STRENGTH &gt; GERMAN DEFENSE STRENGTH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buFont typeface="Wingdings" panose="05000000000000000000" pitchFamily="2" charset="2"/>
                  <a:buChar char=""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ARMY ADVANCES, GERMAN DEFENDING FORCES RETREAT 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spcAft>
                    <a:spcPts val="1000"/>
                  </a:spcAft>
                  <a:buFont typeface="Wingdings" panose="05000000000000000000" pitchFamily="2" charset="2"/>
                  <a:buChar char=""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 DEFENSE CONTAINS ANY PANZER UNITS, HITLER APPROVAL DOWN 1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FORCES LOSE 1 STRENGTH POINT (REGARDLESS OF RESULT)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COUNTER-ATTACKS</a:t>
                </a:r>
                <a:br>
                  <a:rPr lang="en-GB" sz="9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</a:br>
                <a:endParaRPr lang="en-US" sz="9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DEFENSE STRENGTH</a:t>
                </a: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Army Defense Rating + Terrain + Sum of all Defense Strength modifiers 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ATTACK STRENGTH</a:t>
                </a: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Sum of all Unit Attack Strengths + d6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 GERMAN ATTACK STRENGTH &gt; ALLIED DEFENSE STRENGTH 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buFont typeface="Wingdings" panose="05000000000000000000" pitchFamily="2" charset="2"/>
                  <a:buChar char=""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ATTACKING  UNITS ADVANCE, ALLIED ARMY RETREATS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spcAft>
                    <a:spcPts val="1000"/>
                  </a:spcAft>
                  <a:buFont typeface="Wingdings" panose="05000000000000000000" pitchFamily="2" charset="2"/>
                  <a:buChar char=""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HITLER APPROVAL UP 1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OTHERWISE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buFont typeface="Wingdings" panose="05000000000000000000" pitchFamily="2" charset="2"/>
                  <a:buChar char=""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FORCES LOSE 1 STRENGTH POINT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                                                                  RESOURCE ROLL</a:t>
                </a:r>
              </a:p>
              <a:p>
                <a:pPr marL="0" marR="0">
                  <a:buNone/>
                </a:pPr>
                <a:endParaRPr lang="en-US" sz="9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9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INCREASE RESOURCE LEVEL IF:</a:t>
                </a:r>
                <a:endParaRPr lang="en-US" sz="9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buNone/>
                </a:pPr>
                <a:r>
                  <a:rPr lang="en-GB" sz="900" b="1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	</a:t>
                </a:r>
                <a:r>
                  <a:rPr lang="en-GB" sz="9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d6 &gt; Base Level (shown on counter)</a:t>
                </a:r>
              </a:p>
              <a:p>
                <a:pPr marL="0" marR="0">
                  <a:buNone/>
                </a:pPr>
                <a:endParaRPr lang="en-US" sz="9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RESOURCE CHECK</a:t>
                </a:r>
              </a:p>
              <a:p>
                <a:pPr marL="0" marR="0">
                  <a:buNone/>
                </a:pPr>
                <a:endParaRPr lang="en-US" sz="9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9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CHECK SUCCEEDS IF:</a:t>
                </a:r>
                <a:endParaRPr lang="en-US" sz="9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buNone/>
                </a:pPr>
                <a:r>
                  <a:rPr lang="en-GB" sz="9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	d6 </a:t>
                </a:r>
                <a14:m>
                  <m:oMath xmlns:m="http://schemas.openxmlformats.org/officeDocument/2006/math">
                    <m:r>
                      <a:rPr lang="en-GB" sz="9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≤</m:t>
                    </m:r>
                  </m:oMath>
                </a14:m>
                <a:r>
                  <a:rPr lang="en-GB" sz="9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 Current Resource Level</a:t>
                </a:r>
                <a:endParaRPr lang="en-US" sz="9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8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 </a:t>
                </a:r>
                <a:endParaRPr lang="en-US" sz="18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3200" b="0" i="0" kern="0" dirty="0">
                    <a:solidFill>
                      <a:srgbClr val="4F6228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 </a:t>
                </a:r>
                <a:endParaRPr lang="en-US" sz="4000" b="1" i="1" kern="0" dirty="0">
                  <a:solidFill>
                    <a:srgbClr val="4F6228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64614C-0391-00F3-5A49-4A9F61E916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176" y="635987"/>
                <a:ext cx="3410547" cy="810067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E2F46F36-2125-EA7F-D630-8F7186B7516D}"/>
              </a:ext>
            </a:extLst>
          </p:cNvPr>
          <p:cNvSpPr txBox="1"/>
          <p:nvPr/>
        </p:nvSpPr>
        <p:spPr>
          <a:xfrm>
            <a:off x="3987473" y="990600"/>
            <a:ext cx="3632527" cy="6077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endParaRPr lang="en-GB" sz="900" b="0" i="0" kern="0" dirty="0">
              <a:solidFill>
                <a:srgbClr val="4F6228"/>
              </a:solidFill>
              <a:effectLst/>
              <a:latin typeface="Vinque" panose="020E0603000000020003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>
              <a:lnSpc>
                <a:spcPts val="1200"/>
              </a:lnSpc>
              <a:spcAft>
                <a:spcPts val="1000"/>
              </a:spcAft>
              <a:buNone/>
            </a:pPr>
            <a:r>
              <a:rPr lang="en-US" sz="900" b="1" i="0" dirty="0">
                <a:solidFill>
                  <a:srgbClr val="000000"/>
                </a:solidFill>
                <a:effectLst/>
                <a:latin typeface="Vinque" panose="020E0603000000020003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DETAILED SEQUENCE OF PLAY</a:t>
            </a:r>
          </a:p>
          <a:p>
            <a:pPr>
              <a:lnSpc>
                <a:spcPts val="1200"/>
              </a:lnSpc>
            </a:pPr>
            <a:r>
              <a:rPr lang="en-GB" sz="900" b="1" dirty="0"/>
              <a:t>Event Phase. </a:t>
            </a:r>
            <a:r>
              <a:rPr lang="en-GB" sz="900" dirty="0"/>
              <a:t>Draw Event Card</a:t>
            </a:r>
          </a:p>
          <a:p>
            <a:pPr>
              <a:lnSpc>
                <a:spcPts val="1200"/>
              </a:lnSpc>
            </a:pPr>
            <a:r>
              <a:rPr lang="en-GB" sz="900" dirty="0"/>
              <a:t> </a:t>
            </a:r>
            <a:endParaRPr lang="en-US" sz="900" dirty="0"/>
          </a:p>
          <a:p>
            <a:pPr lvl="0">
              <a:lnSpc>
                <a:spcPts val="1200"/>
              </a:lnSpc>
            </a:pPr>
            <a:r>
              <a:rPr lang="en-GB" sz="900" b="1" dirty="0"/>
              <a:t>Weather Phase. </a:t>
            </a:r>
            <a:r>
              <a:rPr lang="en-GB" sz="900" dirty="0"/>
              <a:t>Roll on weather table; 1 gives +1 DRM to Transport and Supply Resource Rolls. Roll on  Carpet Bombing if applicable</a:t>
            </a:r>
            <a:endParaRPr lang="en-GB" sz="900" b="1" dirty="0"/>
          </a:p>
          <a:p>
            <a:pPr lvl="0">
              <a:lnSpc>
                <a:spcPts val="1200"/>
              </a:lnSpc>
            </a:pPr>
            <a:endParaRPr lang="en-GB" sz="900" dirty="0"/>
          </a:p>
          <a:p>
            <a:pPr lvl="0">
              <a:lnSpc>
                <a:spcPts val="1200"/>
              </a:lnSpc>
            </a:pPr>
            <a:r>
              <a:rPr lang="en-GB" sz="900" b="1" dirty="0"/>
              <a:t>Resource Phase</a:t>
            </a:r>
          </a:p>
          <a:p>
            <a:pPr lvl="0">
              <a:lnSpc>
                <a:spcPts val="1200"/>
              </a:lnSpc>
            </a:pPr>
            <a:r>
              <a:rPr lang="en-GB" sz="900" b="1" dirty="0"/>
              <a:t> </a:t>
            </a:r>
            <a:r>
              <a:rPr lang="en-GB" sz="900" dirty="0"/>
              <a:t>1. Add Jabo/Carpet Bombing markers to Allied Armies </a:t>
            </a:r>
          </a:p>
          <a:p>
            <a:pPr lvl="0">
              <a:lnSpc>
                <a:spcPts val="1200"/>
              </a:lnSpc>
            </a:pPr>
            <a:r>
              <a:rPr lang="en-GB" sz="900" b="1" dirty="0"/>
              <a:t> </a:t>
            </a:r>
            <a:r>
              <a:rPr lang="en-GB" sz="900" dirty="0"/>
              <a:t>2. Add Attack/Defense Strength markers to Allied Armies</a:t>
            </a:r>
          </a:p>
          <a:p>
            <a:pPr lvl="0">
              <a:lnSpc>
                <a:spcPts val="1200"/>
              </a:lnSpc>
            </a:pPr>
            <a:r>
              <a:rPr lang="en-GB" sz="900" b="1" dirty="0"/>
              <a:t> </a:t>
            </a:r>
            <a:r>
              <a:rPr lang="en-GB" sz="900" dirty="0"/>
              <a:t>3. Add DRMs to Resource Tracks</a:t>
            </a:r>
          </a:p>
          <a:p>
            <a:pPr lvl="0">
              <a:lnSpc>
                <a:spcPts val="1200"/>
              </a:lnSpc>
            </a:pPr>
            <a:r>
              <a:rPr lang="en-GB" sz="900" b="1" dirty="0"/>
              <a:t> </a:t>
            </a:r>
            <a:r>
              <a:rPr lang="en-GB" sz="900" dirty="0"/>
              <a:t>4. Add Panzer Div reinforcements to In Transit box</a:t>
            </a:r>
          </a:p>
          <a:p>
            <a:pPr lvl="0">
              <a:lnSpc>
                <a:spcPts val="1200"/>
              </a:lnSpc>
            </a:pPr>
            <a:r>
              <a:rPr lang="en-GB" sz="900" b="1" dirty="0"/>
              <a:t> </a:t>
            </a:r>
            <a:r>
              <a:rPr lang="en-GB" sz="900" dirty="0"/>
              <a:t>5. Add Other reinforcements to map/Strategic Reserve box</a:t>
            </a:r>
            <a:endParaRPr lang="en-GB" sz="900" b="1" dirty="0"/>
          </a:p>
          <a:p>
            <a:pPr lvl="0">
              <a:lnSpc>
                <a:spcPts val="1200"/>
              </a:lnSpc>
            </a:pPr>
            <a:endParaRPr lang="en-GB" sz="900" dirty="0"/>
          </a:p>
          <a:p>
            <a:pPr lvl="0">
              <a:lnSpc>
                <a:spcPts val="1200"/>
              </a:lnSpc>
            </a:pPr>
            <a:r>
              <a:rPr lang="en-GB" sz="900" b="1" dirty="0"/>
              <a:t>Military Phase</a:t>
            </a:r>
          </a:p>
          <a:p>
            <a:pPr lvl="0">
              <a:lnSpc>
                <a:spcPts val="1200"/>
              </a:lnSpc>
            </a:pPr>
            <a:r>
              <a:rPr lang="en-GB" sz="900" dirty="0"/>
              <a:t> 1. Move all active Allied armies as indicated on the Event Card (from left to right on the card).</a:t>
            </a:r>
          </a:p>
          <a:p>
            <a:pPr lvl="0">
              <a:lnSpc>
                <a:spcPts val="1200"/>
              </a:lnSpc>
            </a:pPr>
            <a:r>
              <a:rPr lang="en-GB" sz="900" dirty="0"/>
              <a:t> 2. Calculate Attack and Defense Strengths</a:t>
            </a:r>
          </a:p>
          <a:p>
            <a:pPr lvl="0">
              <a:lnSpc>
                <a:spcPts val="1200"/>
              </a:lnSpc>
            </a:pPr>
            <a:r>
              <a:rPr lang="en-GB" sz="900" dirty="0"/>
              <a:t> 3. Resolve combat</a:t>
            </a:r>
          </a:p>
          <a:p>
            <a:pPr lvl="0">
              <a:lnSpc>
                <a:spcPts val="1200"/>
              </a:lnSpc>
            </a:pPr>
            <a:r>
              <a:rPr lang="en-GB" sz="900" dirty="0"/>
              <a:t> 4. Advance Allied Army/Retreat Defenders if Allied Army won</a:t>
            </a:r>
          </a:p>
          <a:p>
            <a:pPr lvl="0">
              <a:lnSpc>
                <a:spcPts val="1200"/>
              </a:lnSpc>
            </a:pPr>
            <a:r>
              <a:rPr lang="en-GB" sz="900" dirty="0"/>
              <a:t> 5. Modify Hitler Approval if necessary</a:t>
            </a:r>
          </a:p>
          <a:p>
            <a:pPr lvl="0">
              <a:lnSpc>
                <a:spcPts val="1200"/>
              </a:lnSpc>
            </a:pPr>
            <a:endParaRPr lang="en-GB" sz="900" dirty="0"/>
          </a:p>
          <a:p>
            <a:pPr lvl="0">
              <a:lnSpc>
                <a:spcPts val="1200"/>
              </a:lnSpc>
            </a:pPr>
            <a:r>
              <a:rPr lang="en-GB" sz="900" b="1" dirty="0"/>
              <a:t>Action Phase (cost in parenthesis)</a:t>
            </a:r>
            <a:endParaRPr lang="en-GB" sz="900" dirty="0"/>
          </a:p>
          <a:p>
            <a:pPr>
              <a:lnSpc>
                <a:spcPts val="1200"/>
              </a:lnSpc>
            </a:pPr>
            <a:r>
              <a:rPr lang="en-GB" sz="900" dirty="0"/>
              <a:t> 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Launch counter-attack (1 per attack)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Redeploy Panzer units to/from the Strategic Reserve box  (1)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Refit reduced Panzer Units (1)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Attempt to increase a Resource on its Resource Track (1)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Fortify Villages (3)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Put 1 or 2 Actions into Strategic Reserve Box (1 per action)</a:t>
            </a:r>
            <a:endParaRPr lang="en-US" sz="900" dirty="0"/>
          </a:p>
          <a:p>
            <a:pPr>
              <a:lnSpc>
                <a:spcPts val="1200"/>
              </a:lnSpc>
            </a:pPr>
            <a:r>
              <a:rPr lang="en-GB" sz="900" dirty="0"/>
              <a:t> </a:t>
            </a:r>
            <a:endParaRPr lang="en-US" sz="900" dirty="0"/>
          </a:p>
          <a:p>
            <a:pPr>
              <a:lnSpc>
                <a:spcPts val="1200"/>
              </a:lnSpc>
            </a:pPr>
            <a:r>
              <a:rPr lang="en-GB" sz="900" b="1" dirty="0"/>
              <a:t>Housekeeping Phase</a:t>
            </a:r>
          </a:p>
          <a:p>
            <a:pPr>
              <a:lnSpc>
                <a:spcPts val="1200"/>
              </a:lnSpc>
            </a:pPr>
            <a:endParaRPr lang="en-GB" sz="900" b="1" i="0" dirty="0">
              <a:solidFill>
                <a:srgbClr val="000000"/>
              </a:solidFill>
              <a:effectLst/>
              <a:latin typeface="Berkeley Book" panose="02020500000000000000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200"/>
              </a:lnSpc>
            </a:pPr>
            <a:r>
              <a:rPr lang="en-GB" sz="900" dirty="0"/>
              <a:t>Remove all JABO, Carpet Bombing,  DRM, Strength, Commander markers </a:t>
            </a:r>
            <a:endParaRPr lang="en-US" sz="900" b="0" i="0" dirty="0">
              <a:solidFill>
                <a:srgbClr val="000000"/>
              </a:solidFill>
              <a:effectLst/>
              <a:latin typeface="Berkeley Book" panose="02020500000000000000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>
              <a:lnSpc>
                <a:spcPct val="150000"/>
              </a:lnSpc>
              <a:buNone/>
            </a:pPr>
            <a:r>
              <a:rPr lang="en-GB" sz="900" b="0" i="0" kern="0" dirty="0">
                <a:solidFill>
                  <a:srgbClr val="4F6228"/>
                </a:solidFill>
                <a:effectLst/>
                <a:latin typeface="Vinque" panose="020E0603000000020003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</a:t>
            </a:r>
            <a:endParaRPr lang="en-US" sz="900" b="1" i="1" kern="0" dirty="0">
              <a:solidFill>
                <a:srgbClr val="4F6228"/>
              </a:solidFill>
              <a:effectLst/>
              <a:latin typeface="Vinque" panose="020E0603000000020003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7905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20821</TotalTime>
  <Words>1249</Words>
  <Application>Microsoft Office PowerPoint</Application>
  <PresentationFormat>Custom</PresentationFormat>
  <Paragraphs>158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2" baseType="lpstr">
      <vt:lpstr>Aptos</vt:lpstr>
      <vt:lpstr>Arial</vt:lpstr>
      <vt:lpstr>Arial MT</vt:lpstr>
      <vt:lpstr>Berkeley Book</vt:lpstr>
      <vt:lpstr>Calibri</vt:lpstr>
      <vt:lpstr>Cambria Math</vt:lpstr>
      <vt:lpstr>Times New Roman</vt:lpstr>
      <vt:lpstr>Vinque</vt:lpstr>
      <vt:lpstr>Wingdings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Mike Richardson</cp:lastModifiedBy>
  <cp:revision>84</cp:revision>
  <dcterms:created xsi:type="dcterms:W3CDTF">2026-02-15T09:03:45Z</dcterms:created>
  <dcterms:modified xsi:type="dcterms:W3CDTF">2026-05-30T15:50:12Z</dcterms:modified>
</cp:coreProperties>
</file>