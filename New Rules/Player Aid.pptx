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2"/>
    <p:sldId id="261" r:id="rId3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9" autoAdjust="0"/>
    <p:restoredTop sz="88418" autoAdjust="0"/>
  </p:normalViewPr>
  <p:slideViewPr>
    <p:cSldViewPr>
      <p:cViewPr>
        <p:scale>
          <a:sx n="200" d="100"/>
          <a:sy n="200" d="100"/>
        </p:scale>
        <p:origin x="-2776" y="-484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2652" y="4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7/24/2026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3108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413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spcBef>
                <a:spcPts val="229"/>
              </a:spcBef>
              <a:buFontTx/>
              <a:buAutoNum type="arabicPeriod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Conduct Counter-Attack </a:t>
            </a:r>
            <a:r>
              <a:rPr sz="900" b="1" spc="70" dirty="0">
                <a:latin typeface="Arial MT"/>
                <a:cs typeface="Arial MT"/>
              </a:rPr>
              <a:t> </a:t>
            </a:r>
            <a:r>
              <a:rPr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9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57923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Panzer Divisions make Transport Check (Success is &lt;=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Leave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-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Kampfgruppen/Nebel/Flak/Fschmjgr move directly to map 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Kampfgruppen/Nebel/Flak/Fschmjgr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11183" y="4179313"/>
            <a:ext cx="3290953" cy="70301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Move Pz Unit to SR Box: 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move/redeploy in to/out of Siege</a:t>
            </a: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395359" y="4852604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Strategic Reserve </a:t>
            </a:r>
            <a:r>
              <a:rPr lang="en-US" sz="900" i="1" dirty="0">
                <a:latin typeface="Arial MT"/>
                <a:cs typeface="Arial"/>
              </a:rPr>
              <a:t>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COUNTER-ATTACKS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67575" y="1406413"/>
            <a:ext cx="3681046" cy="208775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Terrain Val + Army Value + Defense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Modifiers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ALL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Pz Div/Kampgruppen involved (not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elim: take loss from Pz unit, Nebel, Fallsch or Fortified Village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 / 6 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Cannot counter-attack beaches after turn 2 or Fortresses ever</a:t>
            </a:r>
            <a:endParaRPr lang="en-US" sz="900" dirty="0">
              <a:latin typeface="Arial MT"/>
              <a:cs typeface="Arial MT"/>
            </a:endParaRPr>
          </a:p>
          <a:p>
            <a:pPr marL="12700">
              <a:spcBef>
                <a:spcPts val="320"/>
              </a:spcBef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44568" y="421397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Siege. 1d6 Siege Table when army listed to attack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move/deploy units into or out of besieged space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PLAYER 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328111" y="5696512"/>
            <a:ext cx="3236121" cy="6617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Resource Augmentation Roll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Checks </a:t>
            </a:r>
            <a:r>
              <a:rPr lang="en-US" sz="900" b="1" i="1" dirty="0">
                <a:latin typeface="Arial MT"/>
                <a:cs typeface="Arial"/>
              </a:rPr>
              <a:t>NOT </a:t>
            </a:r>
            <a:r>
              <a:rPr lang="en-US" sz="900" dirty="0">
                <a:latin typeface="Arial MT"/>
                <a:cs typeface="Arial"/>
              </a:rPr>
              <a:t>Augmentation Rolls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361735" y="6368473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 per level)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+1 or upgrade to +2 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+1 or +2 until captured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Siege Rules do not apply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on any German held space except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352780" y="7284686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48303" y="2955724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CHECKS / AUGMENTATION ROLLS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36542" y="3100770"/>
            <a:ext cx="3588258" cy="97462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augment (increase)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2" y="4912178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ADVANCE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36734" y="5110988"/>
            <a:ext cx="3647946" cy="97462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Value + Defense Modifiers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0 + Attack Modifiers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5" y="6106132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50588" y="6291477"/>
            <a:ext cx="387547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Roll 2d6 &gt;= 12 on 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Activation Table to activate 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moves to St Malo (then into Britanny)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moves to Rennes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388014" y="8373185"/>
            <a:ext cx="2771775" cy="100489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Roll 1d6: 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52780" y="8209008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66241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3" y="7685142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22923" y="7685142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67576" y="914972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9367" y="9320281"/>
            <a:ext cx="3588258" cy="5078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67576" y="7105649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57946" y="7276209"/>
            <a:ext cx="3588258" cy="4821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if Panzer Units present (divisions, Kampfgruppen count,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Pz Bn does not)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8" name="object 7">
            <a:extLst>
              <a:ext uri="{FF2B5EF4-FFF2-40B4-BE49-F238E27FC236}">
                <a16:creationId xmlns:a16="http://schemas.microsoft.com/office/drawing/2014/main" id="{1E766F8F-366D-FCA5-EB19-5F083EC697E2}"/>
              </a:ext>
            </a:extLst>
          </p:cNvPr>
          <p:cNvSpPr txBox="1"/>
          <p:nvPr/>
        </p:nvSpPr>
        <p:spPr>
          <a:xfrm>
            <a:off x="352780" y="7807906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8. </a:t>
            </a:r>
            <a:r>
              <a:rPr lang="en-GB" sz="1000" b="1" spc="75" dirty="0">
                <a:latin typeface="Arial MT"/>
                <a:cs typeface="Arial MT"/>
              </a:rPr>
              <a:t>Move Unit One Space</a:t>
            </a:r>
            <a:r>
              <a:rPr lang="en-GB" sz="1000" b="1" dirty="0">
                <a:latin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Any unit can move forwards or backwards 1 space</a:t>
            </a:r>
          </a:p>
          <a:p>
            <a:pPr marL="241300">
              <a:lnSpc>
                <a:spcPct val="100000"/>
              </a:lnSpc>
              <a:spcBef>
                <a:spcPts val="200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A59C004-75E9-2641-90B3-8749B3BE1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522" y="84511"/>
            <a:ext cx="2118126" cy="707040"/>
          </a:xfrm>
          <a:prstGeom prst="rect">
            <a:avLst/>
          </a:prstGeom>
        </p:spPr>
      </p:pic>
      <p:sp>
        <p:nvSpPr>
          <p:cNvPr id="10" name="object 9">
            <a:extLst>
              <a:ext uri="{FF2B5EF4-FFF2-40B4-BE49-F238E27FC236}">
                <a16:creationId xmlns:a16="http://schemas.microsoft.com/office/drawing/2014/main" id="{A551F014-F897-B43A-A93B-C9B841E7EDB5}"/>
              </a:ext>
            </a:extLst>
          </p:cNvPr>
          <p:cNvSpPr txBox="1"/>
          <p:nvPr/>
        </p:nvSpPr>
        <p:spPr>
          <a:xfrm>
            <a:off x="336209" y="9378075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STACKING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2" name="object 15">
            <a:extLst>
              <a:ext uri="{FF2B5EF4-FFF2-40B4-BE49-F238E27FC236}">
                <a16:creationId xmlns:a16="http://schemas.microsoft.com/office/drawing/2014/main" id="{4B93FEB9-B909-DB81-7D40-FAF9667F65F6}"/>
              </a:ext>
            </a:extLst>
          </p:cNvPr>
          <p:cNvSpPr txBox="1"/>
          <p:nvPr/>
        </p:nvSpPr>
        <p:spPr>
          <a:xfrm>
            <a:off x="160711" y="9528207"/>
            <a:ext cx="3385233" cy="6206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4 panzer units (incl. Kampfgruppen), 3 Nebelwerfer, 2 Fallschirmjäger, 3 88mm FlaK units per space. purposes; 101</a:t>
            </a:r>
            <a:r>
              <a:rPr lang="en-GB" sz="900" baseline="30000" dirty="0"/>
              <a:t>st</a:t>
            </a:r>
            <a:r>
              <a:rPr lang="en-GB" sz="900" dirty="0"/>
              <a:t>  does not count</a:t>
            </a:r>
            <a:endParaRPr lang="en-US" sz="900" dirty="0"/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52C52-76E2-7C46-A4D0-B78F6CB2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A9E376-9393-391B-093F-2007D2B73CC4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0E13AB9-F3F6-D116-E9B0-B1722A91352B}"/>
              </a:ext>
            </a:extLst>
          </p:cNvPr>
          <p:cNvSpPr/>
          <p:nvPr/>
        </p:nvSpPr>
        <p:spPr>
          <a:xfrm flipH="1">
            <a:off x="3766640" y="1114475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/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>
                  <a:buNone/>
                </a:pPr>
                <a:endParaRPr lang="en-GB" sz="3200" b="0" i="0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</a:t>
                </a: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Attack Strength modifiers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Terrain Value + Combat Modifiers from Units present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ALLIED ATTACK STRENGTH &gt; GERMAN DEFENSE STRENGTH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ADVANCES, GERMAN DEFENDING FORCES RETREAT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DEFENSE CONTAINS ANY PANZER UNITS, HITLER APPROVAL DOWN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 (REGARDLESS OF RESULT)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COUNTER-ATTACKS</a:t>
                </a:r>
                <a:b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DEFENSE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Army Defense Rating + Terrain + Sum of all Defense Strength modifiers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 STRENGTH</a:t>
                </a: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Sum of all Unit Attack Strengths + d6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GERMAN ATTACK STRENGTH &gt; ALLIED DEFENSE STRENGTH 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ATTACKING  UNITS ADVANCE, ALLIED ARMY RETREATS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HITLER APPROVAL UP 1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9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</a:t>
                </a:r>
                <a:endParaRPr lang="en-US" sz="9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                                                                 AUGMENTATION ROLL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INCREASE RESOURCE LEVEL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</a:t>
                </a: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d6 &gt; Base Level (shown on counter)</a:t>
                </a:r>
              </a:p>
              <a:p>
                <a:pPr marL="0" marR="0">
                  <a:buNone/>
                </a:pP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CHECK</a:t>
                </a:r>
              </a:p>
              <a:p>
                <a:pPr marL="0" marR="0">
                  <a:buNone/>
                </a:pPr>
                <a:endParaRPr lang="en-US" sz="9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CHECK SUCCEEDS IF: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d6 </a:t>
                </a:r>
                <a14:m>
                  <m:oMath xmlns:m="http://schemas.openxmlformats.org/officeDocument/2006/math">
                    <m:r>
                      <a:rPr lang="en-GB" sz="9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GB" sz="9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 Current Resource Level</a:t>
                </a:r>
                <a:endParaRPr lang="en-US" sz="9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3200" b="0" i="0" kern="0" dirty="0">
                    <a:solidFill>
                      <a:srgbClr val="4F6228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4000" b="1" i="1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64614C-0391-00F3-5A49-4A9F61E91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76" y="635987"/>
                <a:ext cx="3410547" cy="81006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F46F36-2125-EA7F-D630-8F7186B7516D}"/>
              </a:ext>
            </a:extLst>
          </p:cNvPr>
          <p:cNvSpPr txBox="1"/>
          <p:nvPr/>
        </p:nvSpPr>
        <p:spPr>
          <a:xfrm>
            <a:off x="3987473" y="990600"/>
            <a:ext cx="3632527" cy="6231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endParaRPr lang="en-GB" sz="900" b="0" i="0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ts val="1200"/>
              </a:lnSpc>
              <a:spcAft>
                <a:spcPts val="1000"/>
              </a:spcAft>
              <a:buNone/>
            </a:pPr>
            <a:r>
              <a:rPr lang="en-US" sz="900" b="1" i="0" dirty="0">
                <a:solidFill>
                  <a:srgbClr val="000000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DETAILED SEQUENCE OF PLAY</a:t>
            </a:r>
          </a:p>
          <a:p>
            <a:pPr>
              <a:lnSpc>
                <a:spcPts val="1200"/>
              </a:lnSpc>
            </a:pPr>
            <a:r>
              <a:rPr lang="en-GB" sz="900" b="1" dirty="0"/>
              <a:t>Event Phase. </a:t>
            </a:r>
            <a:r>
              <a:rPr lang="en-GB" sz="900" dirty="0"/>
              <a:t>Draw Event Card</a:t>
            </a:r>
          </a:p>
          <a:p>
            <a:pPr>
              <a:lnSpc>
                <a:spcPts val="1200"/>
              </a:lnSpc>
            </a:pPr>
            <a:r>
              <a:rPr lang="en-GB" sz="900" dirty="0"/>
              <a:t> </a:t>
            </a:r>
            <a:endParaRPr lang="en-US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Weather Phase. </a:t>
            </a:r>
            <a:r>
              <a:rPr lang="en-GB" sz="900" dirty="0"/>
              <a:t>Roll on weather table; 1 (overcast) gives +1 DRM to Transport and Supply </a:t>
            </a:r>
            <a:r>
              <a:rPr lang="en-US" sz="900" dirty="0">
                <a:latin typeface="Arial MT"/>
                <a:cs typeface="Arial"/>
              </a:rPr>
              <a:t>Augmentation</a:t>
            </a:r>
            <a:r>
              <a:rPr lang="en-GB" sz="900" dirty="0"/>
              <a:t> Rolls. Roll on  Carpet Bombing if applicable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Resource Phase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1. Add Jabo/Carpet Bombing markers to Allied Armies 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2. Add Attack/Defense Strength markers to Allied Armies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3. Add DRMs to Resource Tracks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4. Add Panzer Div reinforcements to In Transit box</a:t>
            </a:r>
          </a:p>
          <a:p>
            <a:pPr lvl="0">
              <a:lnSpc>
                <a:spcPts val="1200"/>
              </a:lnSpc>
            </a:pPr>
            <a:r>
              <a:rPr lang="en-GB" sz="900" b="1" dirty="0"/>
              <a:t> </a:t>
            </a:r>
            <a:r>
              <a:rPr lang="en-GB" sz="900" dirty="0"/>
              <a:t>5. Add Other reinforcements to map/Strategic Reserve box</a:t>
            </a:r>
            <a:endParaRPr lang="en-GB" sz="900" b="1" dirty="0"/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Allied Advances Phase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1. Move all active Allied armies as indicated on the Event Card (from left to right on the card).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2. Calculate Attack and Defense Strengths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3. Resolve combat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4. Advance Allied Army/Retreat Defenders if Allied Army won</a:t>
            </a:r>
          </a:p>
          <a:p>
            <a:pPr lvl="0">
              <a:lnSpc>
                <a:spcPts val="1200"/>
              </a:lnSpc>
            </a:pPr>
            <a:r>
              <a:rPr lang="en-GB" sz="900" dirty="0"/>
              <a:t> 5. Modify Hitler Approval if necessary</a:t>
            </a:r>
          </a:p>
          <a:p>
            <a:pPr lvl="0">
              <a:lnSpc>
                <a:spcPts val="1200"/>
              </a:lnSpc>
            </a:pPr>
            <a:endParaRPr lang="en-GB" sz="900" dirty="0"/>
          </a:p>
          <a:p>
            <a:pPr lvl="0">
              <a:lnSpc>
                <a:spcPts val="1200"/>
              </a:lnSpc>
            </a:pPr>
            <a:r>
              <a:rPr lang="en-GB" sz="900" b="1" dirty="0"/>
              <a:t>Player Action Phase (cost in parenthesis)</a:t>
            </a:r>
            <a:endParaRPr lang="en-GB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Launch counter-attack (1 per attack)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Redeploy </a:t>
            </a:r>
            <a:r>
              <a:rPr lang="en-GB" sz="900"/>
              <a:t>Panzer Divisions </a:t>
            </a:r>
            <a:r>
              <a:rPr lang="en-GB" sz="900" dirty="0"/>
              <a:t>to/from the Strategic Reserve box 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Refit reduced Panzer Division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Attempt to increase a Resource on its Resource Track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Fortify Villages (3)</a:t>
            </a:r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Move Unit one space (1)</a:t>
            </a:r>
            <a:endParaRPr lang="en-US" sz="900" dirty="0"/>
          </a:p>
          <a:p>
            <a:pPr marL="171450" lvl="0" indent="-17145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GB" sz="900" dirty="0"/>
              <a:t>Put 1 or 2 Actions into Strategic Reserve Box (1 per action)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dirty="0"/>
              <a:t> </a:t>
            </a:r>
            <a:endParaRPr lang="en-US" sz="900" dirty="0"/>
          </a:p>
          <a:p>
            <a:pPr>
              <a:lnSpc>
                <a:spcPts val="1200"/>
              </a:lnSpc>
            </a:pPr>
            <a:r>
              <a:rPr lang="en-GB" sz="900" b="1" dirty="0"/>
              <a:t>Housekeeping Phase</a:t>
            </a:r>
          </a:p>
          <a:p>
            <a:pPr>
              <a:lnSpc>
                <a:spcPts val="1200"/>
              </a:lnSpc>
            </a:pPr>
            <a:endParaRPr lang="en-GB" sz="900" b="1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200"/>
              </a:lnSpc>
            </a:pPr>
            <a:r>
              <a:rPr lang="en-GB" sz="900" dirty="0"/>
              <a:t>Remove all JABO, Carpet Bombing,  DRM, Strength, Commander markers </a:t>
            </a:r>
            <a:endParaRPr lang="en-US" sz="900" b="0" i="0" dirty="0">
              <a:solidFill>
                <a:srgbClr val="000000"/>
              </a:solidFill>
              <a:effectLst/>
              <a:latin typeface="Berkeley Book" panose="02020500000000000000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ct val="150000"/>
              </a:lnSpc>
              <a:buNone/>
            </a:pPr>
            <a:r>
              <a:rPr lang="en-GB" sz="900" b="0" i="0" kern="0" dirty="0">
                <a:solidFill>
                  <a:srgbClr val="4F6228"/>
                </a:solidFill>
                <a:effectLst/>
                <a:latin typeface="Vinque" panose="020E0603000000020003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endParaRPr lang="en-US" sz="900" b="1" i="1" kern="0" dirty="0">
              <a:solidFill>
                <a:srgbClr val="4F6228"/>
              </a:solidFill>
              <a:effectLst/>
              <a:latin typeface="Vinque" panose="020E0603000000020003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3BDD5A-A77A-972E-1CA9-8BC62ABFFF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6522" y="84511"/>
            <a:ext cx="2118126" cy="70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790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23790</TotalTime>
  <Words>1259</Words>
  <Application>Microsoft Office PowerPoint</Application>
  <PresentationFormat>Custom</PresentationFormat>
  <Paragraphs>155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 MT</vt:lpstr>
      <vt:lpstr>Berkeley Book</vt:lpstr>
      <vt:lpstr>Calibri</vt:lpstr>
      <vt:lpstr>Cambria Math</vt:lpstr>
      <vt:lpstr>Times New Roman</vt:lpstr>
      <vt:lpstr>Vinque</vt:lpstr>
      <vt:lpstr>Wingdings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91</cp:revision>
  <dcterms:created xsi:type="dcterms:W3CDTF">2026-02-15T09:03:45Z</dcterms:created>
  <dcterms:modified xsi:type="dcterms:W3CDTF">2026-07-24T08:50:31Z</dcterms:modified>
</cp:coreProperties>
</file>