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2"/>
    <p:sldId id="261" r:id="rId3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9" autoAdjust="0"/>
    <p:restoredTop sz="88418" autoAdjust="0"/>
  </p:normalViewPr>
  <p:slideViewPr>
    <p:cSldViewPr>
      <p:cViewPr varScale="1">
        <p:scale>
          <a:sx n="58" d="100"/>
          <a:sy n="58" d="100"/>
        </p:scale>
        <p:origin x="2144" y="52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6" d="100"/>
          <a:sy n="66" d="100"/>
        </p:scale>
        <p:origin x="2652" y="4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95628-210E-4CE1-AAEA-43A3DE47F2BD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74925" y="1257300"/>
            <a:ext cx="262255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2CA95-F8EB-4FCA-97E8-B8E19E3A6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8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08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413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7/18/2026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7/18/2026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7/18/2026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spcBef>
                <a:spcPts val="229"/>
              </a:spcBef>
              <a:buFontTx/>
              <a:buAutoNum type="arabicPeriod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Conduct Counter-Attack </a:t>
            </a:r>
            <a:r>
              <a:rPr sz="900" b="1" spc="70" dirty="0">
                <a:latin typeface="Arial MT"/>
                <a:cs typeface="Arial MT"/>
              </a:rPr>
              <a:t> </a:t>
            </a:r>
            <a:r>
              <a:rPr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9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&lt;=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2744" y="4005750"/>
            <a:ext cx="3290953" cy="70301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Move Pz Unit to SR Box: 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move/redeploy in to/out of Siege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395359" y="4764419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COUNTER-ATTACKS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4365" y="1364258"/>
            <a:ext cx="3588258" cy="194925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Terrain Value + Defense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ALL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</a:t>
            </a:r>
            <a:r>
              <a:rPr lang="en-US" sz="900" dirty="0" err="1">
                <a:latin typeface="Arial MT"/>
                <a:cs typeface="Arial MT"/>
              </a:rPr>
              <a:t>elim</a:t>
            </a:r>
            <a:r>
              <a:rPr lang="en-US" sz="900" dirty="0">
                <a:latin typeface="Arial MT"/>
                <a:cs typeface="Arial MT"/>
              </a:rPr>
              <a:t>: take loss from Pz unit or Nebelwerfer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 / 6 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Cannot counter-attack beaches after turn 2 or Fortresses ever</a:t>
            </a:r>
            <a:endParaRPr lang="en-US" sz="900" dirty="0">
              <a:latin typeface="Arial MT"/>
              <a:cs typeface="Arial MT"/>
            </a:endParaRPr>
          </a:p>
          <a:p>
            <a:pPr marL="12700">
              <a:spcBef>
                <a:spcPts val="320"/>
              </a:spcBef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043382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Siege. 1d6 Siege Table when army listed to attack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move units into or out of besieged space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PLAYER 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356082" y="5569632"/>
            <a:ext cx="3236121" cy="6617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Resource Augmentation Roll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Checks </a:t>
            </a:r>
            <a:r>
              <a:rPr lang="en-US" sz="900" b="1" i="1" dirty="0">
                <a:latin typeface="Arial MT"/>
                <a:cs typeface="Arial"/>
              </a:rPr>
              <a:t>NOT </a:t>
            </a:r>
            <a:r>
              <a:rPr lang="en-US" sz="900" dirty="0">
                <a:latin typeface="Arial MT"/>
                <a:cs typeface="Arial"/>
              </a:rPr>
              <a:t>Augmentation Rolls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362432" y="6300573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 per level)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+1 or upgrade to +2 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+1 or +2 until captured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Siege Rules do not apply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 err="1">
                <a:latin typeface="Arial MT"/>
                <a:cs typeface="Arial"/>
              </a:rPr>
              <a:t>Olace</a:t>
            </a:r>
            <a:r>
              <a:rPr lang="en-US" sz="900" dirty="0">
                <a:latin typeface="Arial MT"/>
                <a:cs typeface="Arial"/>
              </a:rPr>
              <a:t> on any German held space except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349905" y="7182328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CHECKS / AUGMENTATION ROLLS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97462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4" y="4649190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ADVANCE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30752" y="4779564"/>
            <a:ext cx="3647946" cy="97462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6" y="5832589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059401"/>
            <a:ext cx="387547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Roll 2d6 &gt;= 12 on 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Activation Table to activate 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moves to St Malo (then into Britanny)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moves to Rennes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376309" y="8416359"/>
            <a:ext cx="2771775" cy="100489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Roll 1d6: 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182980" y="8213408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3887600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5" y="7595933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22923" y="7581825"/>
            <a:ext cx="3825698" cy="160556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-2 Brest,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defeat on defense when Panzer units present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67576" y="9087554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9367" y="9320281"/>
            <a:ext cx="3588258" cy="5078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67576" y="6940823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57946" y="7136437"/>
            <a:ext cx="3588258" cy="4821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if Panzer Units present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8" name="object 7">
            <a:extLst>
              <a:ext uri="{FF2B5EF4-FFF2-40B4-BE49-F238E27FC236}">
                <a16:creationId xmlns:a16="http://schemas.microsoft.com/office/drawing/2014/main" id="{1E766F8F-366D-FCA5-EB19-5F083EC697E2}"/>
              </a:ext>
            </a:extLst>
          </p:cNvPr>
          <p:cNvSpPr txBox="1"/>
          <p:nvPr/>
        </p:nvSpPr>
        <p:spPr>
          <a:xfrm>
            <a:off x="356255" y="7737194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8. </a:t>
            </a:r>
            <a:r>
              <a:rPr lang="en-GB" sz="1000" b="1" spc="75" dirty="0">
                <a:latin typeface="Arial MT"/>
                <a:cs typeface="Arial MT"/>
              </a:rPr>
              <a:t>Move Unit One Space</a:t>
            </a:r>
            <a:r>
              <a:rPr lang="en-GB" sz="1000" b="1" dirty="0">
                <a:latin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Any unit can move forwards or backwards 1 space</a:t>
            </a:r>
          </a:p>
          <a:p>
            <a:pPr marL="241300">
              <a:lnSpc>
                <a:spcPct val="100000"/>
              </a:lnSpc>
              <a:spcBef>
                <a:spcPts val="200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A59C004-75E9-2641-90B3-8749B3BE1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522" y="84511"/>
            <a:ext cx="2118126" cy="70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52C52-76E2-7C46-A4D0-B78F6CB2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A9E376-9393-391B-093F-2007D2B73CC4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0E13AB9-F3F6-D116-E9B0-B1722A91352B}"/>
              </a:ext>
            </a:extLst>
          </p:cNvPr>
          <p:cNvSpPr/>
          <p:nvPr/>
        </p:nvSpPr>
        <p:spPr>
          <a:xfrm flipH="1">
            <a:off x="3766640" y="1114475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/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>
                  <a:buNone/>
                </a:pPr>
                <a:endParaRPr lang="en-GB" sz="3200" b="0" i="0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</a:t>
                </a: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Attack Strength modifiers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Terrain Value + Combat Modifiers from Units present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ALLIED ATTACK STRENGTH &gt; GERMAN DEFENSE STRENGTH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ADVANCES, GERMAN DEFENDING FORCES RETREAT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DEFENSE CONTAINS ANY PANZER UNITS, HITLER APPROVAL DOWN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 (REGARDLESS OF RESULT)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COUNTER-ATTACKS</a:t>
                </a:r>
                <a:b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</a:b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Army Defense Rating + Terrain + Sum of all Defense Strength modifiers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Unit Attack Strengths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GERMAN ATTACK STRENGTH &gt; ALLIED DEFENSE STRENGTH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ATTACKING  UNITS ADVANCE, ALLIED ARMY RETREATS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HITLER APPROVAL UP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                                                                 AUGMENTATION ROLL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INCREASE RESOURCE LEVEL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</a:t>
                </a: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d6 &gt; Base Level (shown on counter)</a:t>
                </a:r>
              </a:p>
              <a:p>
                <a:pPr marL="0" marR="0">
                  <a:buNone/>
                </a:pP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CHECK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CHECK SUCCEEDS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d6 </a:t>
                </a:r>
                <a14:m>
                  <m:oMath xmlns:m="http://schemas.openxmlformats.org/officeDocument/2006/math">
                    <m:r>
                      <a:rPr lang="en-GB" sz="9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≤</m:t>
                    </m:r>
                  </m:oMath>
                </a14:m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 Current Resource Level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3200" b="0" i="0" kern="0" dirty="0">
                    <a:solidFill>
                      <a:srgbClr val="4F6228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4000" b="1" i="1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2F46F36-2125-EA7F-D630-8F7186B7516D}"/>
              </a:ext>
            </a:extLst>
          </p:cNvPr>
          <p:cNvSpPr txBox="1"/>
          <p:nvPr/>
        </p:nvSpPr>
        <p:spPr>
          <a:xfrm>
            <a:off x="3987473" y="990600"/>
            <a:ext cx="3632527" cy="6077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endParaRPr lang="en-GB" sz="900" b="0" i="0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ts val="1200"/>
              </a:lnSpc>
              <a:spcAft>
                <a:spcPts val="100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DETAILED SEQUENCE OF PLAY</a:t>
            </a:r>
          </a:p>
          <a:p>
            <a:pPr>
              <a:lnSpc>
                <a:spcPts val="1200"/>
              </a:lnSpc>
            </a:pPr>
            <a:r>
              <a:rPr lang="en-GB" sz="900" b="1" dirty="0"/>
              <a:t>Event Phase. </a:t>
            </a:r>
            <a:r>
              <a:rPr lang="en-GB" sz="900" dirty="0"/>
              <a:t>Draw Event Card</a:t>
            </a:r>
          </a:p>
          <a:p>
            <a:pPr>
              <a:lnSpc>
                <a:spcPts val="1200"/>
              </a:lnSpc>
            </a:pPr>
            <a:r>
              <a:rPr lang="en-GB" sz="900" dirty="0"/>
              <a:t> </a:t>
            </a:r>
            <a:endParaRPr lang="en-US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Weather Phase. </a:t>
            </a:r>
            <a:r>
              <a:rPr lang="en-GB" sz="900" dirty="0"/>
              <a:t>Roll on weather table; 1 gives +1 DRM to Transport and Supply </a:t>
            </a:r>
            <a:r>
              <a:rPr lang="en-US" sz="900" dirty="0">
                <a:latin typeface="Arial MT"/>
                <a:cs typeface="Arial"/>
              </a:rPr>
              <a:t>Augmentation</a:t>
            </a:r>
            <a:r>
              <a:rPr lang="en-GB" sz="900" dirty="0"/>
              <a:t> Rolls. Roll on  Carpet Bombing if applicable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Resource Phase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1. Add Jabo/Carpet Bombing markers to Allied Armies 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2. Add Attack/Defense Strength markers to Allied Armies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3. Add DRMs to Resource Tracks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4. Add Panzer Div reinforcements to In Transit box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5. Add Other reinforcements to map/Strategic Reserve box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Military Phase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1. Move all active Allied armies as indicated on the Event Card (from left to right on the card).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2. Calculate Attack and Defense Strengths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3. Resolve combat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4. Advance Allied Army/Retreat Defenders if Allied Army won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5. Modify Hitler Approval if necessary</a:t>
            </a:r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Action Phase (cost in parenthesis)</a:t>
            </a:r>
            <a:endParaRPr lang="en-GB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Launch counter-attack (1 per attack)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Redeploy Panzer units to/from the Strategic Reserve box 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Refit reduced Panzer Units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Attempt to increase a Resource on its Resource Track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Fortify Villages (3)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Put 1 or 2 Actions into Strategic Reserve Box (1 per action)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b="1" dirty="0"/>
              <a:t>Housekeeping Phase</a:t>
            </a:r>
          </a:p>
          <a:p>
            <a:pPr>
              <a:lnSpc>
                <a:spcPts val="1200"/>
              </a:lnSpc>
            </a:pPr>
            <a:endParaRPr lang="en-GB" sz="900" b="1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200"/>
              </a:lnSpc>
            </a:pPr>
            <a:r>
              <a:rPr lang="en-GB" sz="900" dirty="0"/>
              <a:t>Remove all JABO, Carpet Bombing,  DRM, Strength, Commander markers </a:t>
            </a:r>
            <a:endParaRPr lang="en-US" sz="900" b="0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ct val="150000"/>
              </a:lnSpc>
              <a:buNone/>
            </a:pPr>
            <a:r>
              <a:rPr lang="en-GB" sz="900" b="0" i="0" kern="0" dirty="0">
                <a:solidFill>
                  <a:srgbClr val="4F6228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endParaRPr lang="en-US" sz="900" b="1" i="1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3BDD5A-A77A-972E-1CA9-8BC62ABFFF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6522" y="84511"/>
            <a:ext cx="2118126" cy="70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90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21002</TotalTime>
  <Words>1197</Words>
  <Application>Microsoft Office PowerPoint</Application>
  <PresentationFormat>Custom</PresentationFormat>
  <Paragraphs>152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 MT</vt:lpstr>
      <vt:lpstr>Berkeley Book</vt:lpstr>
      <vt:lpstr>Calibri</vt:lpstr>
      <vt:lpstr>Cambria Math</vt:lpstr>
      <vt:lpstr>Times New Roman</vt:lpstr>
      <vt:lpstr>Vinque</vt:lpstr>
      <vt:lpstr>Wingdings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88</cp:revision>
  <dcterms:created xsi:type="dcterms:W3CDTF">2026-02-15T09:03:45Z</dcterms:created>
  <dcterms:modified xsi:type="dcterms:W3CDTF">2026-07-18T21:09:17Z</dcterms:modified>
</cp:coreProperties>
</file>